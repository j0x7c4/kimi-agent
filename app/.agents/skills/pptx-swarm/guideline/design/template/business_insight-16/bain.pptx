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市场领先者</c:v>
                </c:pt>
              </c:strCache>
            </c:strRef>
          </c:tx>
          <c:spPr>
            <a:solidFill>
              <a:srgbClr val="8C1515"/>
            </a:solidFill>
            <a:ln w="28575">
              <a:solidFill>
                <a:srgbClr val="8C1515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40">
                    <a:latin typeface="Arial"/>
                    <a:ea typeface="Microsoft YaHei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  <c:pt idx="6">
                  <c:v>2026E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108</c:v>
                </c:pt>
                <c:pt idx="2">
                  <c:v>114</c:v>
                </c:pt>
                <c:pt idx="3">
                  <c:v>119</c:v>
                </c:pt>
                <c:pt idx="4">
                  <c:v>122</c:v>
                </c:pt>
                <c:pt idx="5">
                  <c:v>126</c:v>
                </c:pt>
                <c:pt idx="6">
                  <c:v>130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跟随者</c:v>
                </c:pt>
              </c:strCache>
            </c:strRef>
          </c:tx>
          <c:spPr>
            <a:solidFill>
              <a:srgbClr val="555555"/>
            </a:solidFill>
            <a:ln w="19050">
              <a:solidFill>
                <a:srgbClr val="555555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40">
                    <a:latin typeface="Arial"/>
                    <a:ea typeface="Microsoft YaHei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  <c:pt idx="6">
                  <c:v>2026E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118</c:v>
                </c:pt>
                <c:pt idx="2">
                  <c:v>138</c:v>
                </c:pt>
                <c:pt idx="3">
                  <c:v>162</c:v>
                </c:pt>
                <c:pt idx="4">
                  <c:v>188</c:v>
                </c:pt>
                <c:pt idx="5">
                  <c:v>218</c:v>
                </c:pt>
                <c:pt idx="6">
                  <c:v>252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新进入者</c:v>
                </c:pt>
              </c:strCache>
            </c:strRef>
          </c:tx>
          <c:spPr>
            <a:solidFill>
              <a:srgbClr val="CCCCCC"/>
            </a:solidFill>
            <a:ln w="19050">
              <a:solidFill>
                <a:srgbClr val="CCCCCC"/>
              </a:solidFill>
              <a:prstDash val="dash"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40">
                    <a:latin typeface="Arial"/>
                    <a:ea typeface="Microsoft YaHei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  <c:pt idx="6">
                  <c:v>2026E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100</c:v>
                </c:pt>
                <c:pt idx="1">
                  <c:v>125</c:v>
                </c:pt>
                <c:pt idx="2">
                  <c:v>158</c:v>
                </c:pt>
                <c:pt idx="3">
                  <c:v>198</c:v>
                </c:pt>
                <c:pt idx="4">
                  <c:v>245</c:v>
                </c:pt>
                <c:pt idx="5">
                  <c:v>298</c:v>
                </c:pt>
                <c:pt idx="6">
                  <c:v>352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750">
                <a:solidFill>
                  <a:srgbClr val="54555A"/>
                </a:solidFill>
                <a:latin typeface="Arial"/>
                <a:ea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80.0"/>
        </c:scaling>
        <c:delete val="0"/>
        <c:axPos val="l"/>
        <c:majorGridlines>
          <c:spPr>
            <a:ln>
              <a:solidFill>
                <a:srgbClr val="EEEEEE"/>
              </a:solidFill>
              <a:prstDash val="dash"/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750">
                <a:solidFill>
                  <a:srgbClr val="54555A"/>
                </a:solidFill>
                <a:latin typeface="Arial"/>
                <a:ea typeface="Microsoft YaHei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825">
              <a:solidFill>
                <a:srgbClr val="6D6E73"/>
              </a:solidFill>
              <a:latin typeface="Arial"/>
              <a:ea typeface="Microsoft YaHei"/>
            </a:defRPr>
          </a:pPr>
        </a:p>
      </c:txPr>
    </c:legend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8C1515">
                <a:alpha val="70000"/>
              </a:srgbClr>
            </a:solidFill>
          </c:spPr>
          <c:invertIfNegative val="0"/>
          <c:xVal>
            <c:numRef>
              <c:f>Sheet1!$A$2:$A$7</c:f>
              <c:numCache>
                <c:formatCode>General</c:formatCode>
                <c:ptCount val="6"/>
                <c:pt idx="0">
                  <c:v>95.0</c:v>
                </c:pt>
                <c:pt idx="1">
                  <c:v>72.0</c:v>
                </c:pt>
                <c:pt idx="2">
                  <c:v>55.0</c:v>
                </c:pt>
                <c:pt idx="3">
                  <c:v>38.0</c:v>
                </c:pt>
                <c:pt idx="4">
                  <c:v>20.0</c:v>
                </c:pt>
                <c:pt idx="5">
                  <c:v>10.0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18.0</c:v>
                </c:pt>
                <c:pt idx="1">
                  <c:v>8.0</c:v>
                </c:pt>
                <c:pt idx="2">
                  <c:v>-4.0</c:v>
                </c:pt>
                <c:pt idx="3">
                  <c:v>-12.0</c:v>
                </c:pt>
                <c:pt idx="4">
                  <c:v>22.0</c:v>
                </c:pt>
                <c:pt idx="5">
                  <c:v>30.0</c:v>
                </c:pt>
              </c:numCache>
            </c:numRef>
          </c:yVal>
          <c:bubbleSize>
            <c:numRef>
              <c:f>Sheet1!$C$2:$C$7</c:f>
              <c:numCache>
                <c:formatCode>General</c:formatCode>
                <c:ptCount val="6"/>
                <c:pt idx="0">
                  <c:v>45.0</c:v>
                </c:pt>
                <c:pt idx="1">
                  <c:v>68.0</c:v>
                </c:pt>
                <c:pt idx="2">
                  <c:v>120.0</c:v>
                </c:pt>
                <c:pt idx="3">
                  <c:v>95.0</c:v>
                </c:pt>
                <c:pt idx="4">
                  <c:v>85.0</c:v>
                </c:pt>
                <c:pt idx="5">
                  <c:v>60.0</c:v>
                </c:pt>
              </c:numCache>
            </c:numRef>
          </c:bubbleSize>
          <c:bubble3D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50">
                    <a:latin typeface="Arial"/>
                    <a:ea typeface="Microsoft YaHei"/>
                  </a:defRPr>
                </a:pPr>
                <a:endParaRPr/>
              </a:p>
            </c:txPr>
            <c:showLegendKey val="0"/>
            <c:showVal val="0"/>
            <c:showCatName val="1"/>
            <c:showSerName val="0"/>
            <c:showPercent val="0"/>
            <c:showBubbleSize val="0"/>
          </c:dLbls>
        </c:ser>
        <c:dLbls>
          <c:showLegendKey val="0"/>
          <c:showVal val="0"/>
          <c:showCatName val="1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majorGridlines>
          <c:spPr>
            <a:ln>
              <a:solidFill>
                <a:srgbClr val="EEEEEE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750" lang="zh-CN">
                    <a:solidFill>
                      <a:srgbClr val="54555A"/>
                    </a:solidFill>
                    <a:latin typeface="Arial"/>
                    <a:ea typeface="Microsoft YaHei"/>
                  </a:rPr>
                  <a:t>价格指数（100=最高端）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750">
                <a:solidFill>
                  <a:srgbClr val="54555A"/>
                </a:solidFill>
                <a:latin typeface="Arial"/>
                <a:ea typeface="Microsoft YaHei"/>
              </a:defRPr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>
          <c:spPr>
            <a:ln>
              <a:solidFill>
                <a:srgbClr val="EEEEEE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750" lang="zh-CN">
                    <a:solidFill>
                      <a:srgbClr val="54555A"/>
                    </a:solidFill>
                    <a:latin typeface="Arial"/>
                    <a:ea typeface="Microsoft YaHei"/>
                  </a:rPr>
                  <a:t>同比增速（%）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750">
                <a:solidFill>
                  <a:srgbClr val="54555A"/>
                </a:solidFill>
                <a:latin typeface="Arial"/>
                <a:ea typeface="Microsoft YaHei"/>
              </a:defRPr>
            </a:pPr>
          </a:p>
        </c:txPr>
        <c:crossAx val="-2115720072"/>
        <c:crosses val="autoZero"/>
        <c:crossBetween val="midCat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CR5市占率（%）</c:v>
                </c:pt>
              </c:strCache>
            </c:strRef>
          </c:tx>
          <c:spPr>
            <a:solidFill>
              <a:srgbClr val="8C151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>
                    <a:latin typeface="Arial"/>
                    <a:ea typeface="Microsoft YaHei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42</c:v>
                </c:pt>
                <c:pt idx="2">
                  <c:v>47</c:v>
                </c:pt>
                <c:pt idx="3">
                  <c:v>53</c:v>
                </c:pt>
                <c:pt idx="4">
                  <c:v>57</c:v>
                </c:pt>
                <c:pt idx="5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新增玩家数（家）</c:v>
                </c:pt>
              </c:strCache>
            </c:strRef>
          </c:tx>
          <c:spPr>
            <a:solidFill>
              <a:srgbClr val="CCCCC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>
                    <a:latin typeface="Arial"/>
                    <a:ea typeface="Microsoft YaHei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280</c:v>
                </c:pt>
                <c:pt idx="1">
                  <c:v>320</c:v>
                </c:pt>
                <c:pt idx="2">
                  <c:v>195</c:v>
                </c:pt>
                <c:pt idx="3">
                  <c:v>120</c:v>
                </c:pt>
                <c:pt idx="4">
                  <c:v>68</c:v>
                </c:pt>
                <c:pt idx="5">
                  <c:v>42</c:v>
                </c:pt>
              </c:numCache>
            </c:numRef>
          </c:val>
        </c:ser>
        <c:axId val="-2068027336"/>
        <c:axId val="-2113994440"/>
        <c:dLbls>
          <c:showLegendKey val="0"/>
          <c:showVal val="0"/>
          <c:showCatName val="0"/>
          <c:showSerName val="0"/>
          <c:showPercent val="0"/>
          <c:showBubbleSize val="0"/>
        </c:dLbls>
      </c:barChart>
      <c:lineChart>
        <c:grouping val="standard"/>
        <c:ser>
          <c:idx val="2"/>
          <c:order val="2"/>
          <c:tx>
            <c:strRef>
              <c:f>Sheet1!$D$1</c:f>
              <c:strCache>
                <c:ptCount val="1"/>
                <c:pt idx="0">
                  <c:v>出清比率</c:v>
                </c:pt>
              </c:strCache>
            </c:strRef>
          </c:tx>
          <c:spPr>
            <a:solidFill>
              <a:srgbClr val="1A1A1A"/>
            </a:solidFill>
            <a:ln w="28575">
              <a:solidFill>
                <a:srgbClr val="1A1A1A"/>
              </a:solidFill>
            </a:ln>
          </c:spPr>
          <c:marker>
            <c:symbol val="circle"/>
            <c:size val="4"/>
            <c:spPr>
              <a:solidFill>
                <a:srgbClr val="1A1A1A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>
                    <a:latin typeface="Arial"/>
                    <a:ea typeface="Microsoft YaHei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0.08</c:v>
                </c:pt>
                <c:pt idx="1">
                  <c:v>0.11</c:v>
                </c:pt>
                <c:pt idx="2">
                  <c:v>0.18</c:v>
                </c:pt>
                <c:pt idx="3">
                  <c:v>0.24</c:v>
                </c:pt>
                <c:pt idx="4">
                  <c:v>0.31</c:v>
                </c:pt>
                <c:pt idx="5">
                  <c:v>0.38</c:v>
                </c:pt>
              </c:numCache>
            </c:numRef>
          </c:val>
          <c:smooth val="1"/>
        </c:ser>
        <c:axId val="-2068027334"/>
        <c:axId val="-2113994438"/>
        <c:dLbls>
          <c:showLegendKey val="0"/>
          <c:showVal val="0"/>
          <c:showCatName val="0"/>
          <c:showSerName val="0"/>
          <c:showPercent val="0"/>
          <c:showBubbleSize val="0"/>
        </c:dLbls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DEDE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1019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F0F0F0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>
                    <a:solidFill>
                      <a:srgbClr val="8C1515"/>
                    </a:solidFill>
                  </a:defRPr>
                </a:pPr>
                <a:r>
                  <a:rPr sz="1019" lang="zh-CN">
                    <a:solidFill>
                      <a:srgbClr val="54555A"/>
                    </a:solidFill>
                    <a:latin typeface="Calibri"/>
                    <a:ea typeface="MiSans"/>
                  </a:rPr>
                  <a:t>CR5市占率（%）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1019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-2068027336"/>
        <c:crosses val="autoZero"/>
      </c:valAx>
      <c:catAx>
        <c:axId val="-2068027334"/>
        <c:scaling>
          <c:orientation val="minMax"/>
        </c:scaling>
        <c:delete val="1"/>
        <c:axPos val="b"/>
        <c:crossAx val="-2113994438"/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1019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</c:catAx>
      <c:valAx>
        <c:axId val="-2113994438"/>
        <c:scaling>
          <c:orientation val="minMax"/>
        </c:scaling>
        <c:delete val="0"/>
        <c:axPos val="r"/>
        <c:numFmt formatCode="General" sourceLinked="1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crossAx val="-2068027334"/>
        <c:crosses val="max"/>
        <c:title>
          <c:tx>
            <c:rich>
              <a:bodyPr rot="-540000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/>
                </a:pPr>
                <a:r>
                  <a:rPr lang="zh-CN" sz="1019">
                    <a:solidFill>
                      <a:srgbClr val="54555A"/>
                    </a:solidFill>
                    <a:latin typeface="Calibri"/>
                    <a:ea typeface="MiSans"/>
                  </a:rPr>
                  <a:t/>
                </a:r>
              </a:p>
            </c:rich>
          </c:tx>
        </c:title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1019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</c:valAx>
    </c:plotArea>
    <c:legend>
      <c:legendPos val="t"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825">
              <a:solidFill>
                <a:srgbClr val="6D6E73"/>
              </a:solidFill>
              <a:latin typeface="Arial"/>
              <a:ea typeface="Microsoft YaHei"/>
            </a:defRPr>
          </a:pPr>
        </a:p>
      </c:txPr>
    </c:legend>
    <c:dispBlanksAs val="gap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市场规模（万亿元）</c:v>
                </c:pt>
              </c:strCache>
            </c:strRef>
          </c:tx>
          <c:spPr>
            <a:solidFill>
              <a:srgbClr val="8C151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>
                    <a:latin typeface="Arial"/>
                    <a:ea typeface="Microsoft YaHei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2.4</c:v>
                </c:pt>
                <c:pt idx="2">
                  <c:v>2.9</c:v>
                </c:pt>
                <c:pt idx="3">
                  <c:v>3.6</c:v>
                </c:pt>
                <c:pt idx="4">
                  <c:v>4.7</c:v>
                </c:pt>
              </c:numCache>
            </c:numRef>
          </c:val>
        </c:ser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渗透率变化（ppts）</c:v>
                </c:pt>
              </c:strCache>
            </c:strRef>
          </c:tx>
          <c:spPr>
            <a:solidFill>
              <a:srgbClr val="AAAAAA"/>
            </a:solidFill>
            <a:ln w="28575">
              <a:solidFill>
                <a:srgbClr val="AAAAAA"/>
              </a:solidFill>
            </a:ln>
          </c:spPr>
          <c:marker>
            <c:symbol val="circle"/>
            <c:size val="4"/>
            <c:spPr>
              <a:solidFill>
                <a:srgbClr val="1A1A1A"/>
              </a:solidFill>
              <a:ln w="25400">
                <a:solidFill>
                  <a:srgbClr val="1A1A1A"/>
                </a:solidFill>
              </a:ln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>
                    <a:latin typeface="Arial"/>
                    <a:ea typeface="Microsoft YaHei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2.1</c:v>
                </c:pt>
                <c:pt idx="1">
                  <c:v>3.8</c:v>
                </c:pt>
                <c:pt idx="2">
                  <c:v>4.5</c:v>
                </c:pt>
                <c:pt idx="3">
                  <c:v>6.2</c:v>
                </c:pt>
                <c:pt idx="4">
                  <c:v>8.4</c:v>
                </c:pt>
              </c:numCache>
            </c:numRef>
          </c:val>
          <c:smooth val="1"/>
        </c:ser>
        <c:axId val="-2068027334"/>
        <c:axId val="-2113994438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1019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F0F0F0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>
                    <a:solidFill>
                      <a:srgbClr val="8C1515"/>
                    </a:solidFill>
                  </a:defRPr>
                </a:pPr>
                <a:r>
                  <a:rPr sz="1019" lang="zh-CN">
                    <a:solidFill>
                      <a:srgbClr val="54555A"/>
                    </a:solidFill>
                    <a:latin typeface="Calibri"/>
                    <a:ea typeface="MiSans"/>
                  </a:rPr>
                  <a:t>规模（万亿元）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1019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-2068027336"/>
        <c:crosses val="autoZero"/>
      </c:valAx>
      <c:catAx>
        <c:axId val="-2068027334"/>
        <c:scaling>
          <c:orientation val="minMax"/>
        </c:scaling>
        <c:delete val="1"/>
        <c:axPos val="b"/>
        <c:crossAx val="-2113994438"/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1019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</c:catAx>
      <c:valAx>
        <c:axId val="-2113994438"/>
        <c:scaling>
          <c:orientation val="minMax"/>
        </c:scaling>
        <c:delete val="0"/>
        <c:axPos val="r"/>
        <c:numFmt formatCode="General" sourceLinked="1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crossAx val="-2068027334"/>
        <c:crosses val="max"/>
        <c:title>
          <c:tx>
            <c:rich>
              <a:bodyPr rot="-540000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/>
                </a:pPr>
                <a:r>
                  <a:rPr lang="zh-CN" sz="1019">
                    <a:solidFill>
                      <a:srgbClr val="54555A"/>
                    </a:solidFill>
                    <a:latin typeface="Calibri"/>
                    <a:ea typeface="MiSans"/>
                  </a:rPr>
                  <a:t/>
                </a:r>
              </a:p>
            </c:rich>
          </c:tx>
        </c:title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1019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</c:valAx>
    </c:plotArea>
    <c:legend>
      <c:legendPos val="t"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825">
              <a:solidFill>
                <a:srgbClr val="6D6E73"/>
              </a:solidFill>
              <a:latin typeface="Arial"/>
              <a:ea typeface="Microsoft YaHei"/>
            </a:defRPr>
          </a:pPr>
        </a:p>
      </c:txPr>
    </c:legend>
    <c:dispBlanksAs val="gap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hyperlink" Target="https://www.mckinsey.com" TargetMode="Externa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hyperlink" Target="https://www.bain.com/insights/luxury-goods-worldwide-market-study/" TargetMode="Externa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hyperlink" Target="https://www.bain.com" TargetMode="Externa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hyperlink" Target="https://www.bain.com" TargetMode="Externa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ain.com" TargetMode="Externa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dsl:cover-img-bg" descr="https://images.unsplash.com/photo-1486325212027-8081e485255e?w=1200&amp;q=80"/>
          <p:cNvPicPr>
            <a:picLocks noChangeAspect="1"/>
          </p:cNvPicPr>
          <p:nvPr/>
        </p:nvPicPr>
        <p:blipFill>
          <a:blip r:embed="rId2"/>
          <a:srcRect l="12962" r="12962"/>
          <a:stretch>
            <a:fillRect/>
          </a:stretch>
        </p:blipFill>
        <p:spPr>
          <a:xfrm>
            <a:off x="0" y="0"/>
            <a:ext cx="7620000" cy="6858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dsl:cover-overlay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 rotWithShape="1">
            <a:gsLst>
              <a:gs pos="0">
                <a:srgbClr val="1A0A0A">
                  <a:alpha val="60000"/>
                </a:srgbClr>
              </a:gs>
              <a:gs pos="60000">
                <a:srgbClr val="8C1515">
                  <a:alpha val="56470"/>
                </a:srgbClr>
              </a:gs>
              <a:gs pos="100000">
                <a:srgbClr val="8C1515">
                  <a:alpha val="80000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ut-line"/>
          <p:cNvSpPr/>
          <p:nvPr/>
        </p:nvSpPr>
        <p:spPr>
          <a:xfrm>
            <a:off x="7581900" y="0"/>
            <a:ext cx="38100" cy="6858000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right-panel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op-bar"/>
          <p:cNvSpPr/>
          <p:nvPr/>
        </p:nvSpPr>
        <p:spPr>
          <a:xfrm>
            <a:off x="0" y="0"/>
            <a:ext cx="7620000" cy="28575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category-label"/>
          <p:cNvSpPr txBox="1"/>
          <p:nvPr/>
        </p:nvSpPr>
        <p:spPr>
          <a:xfrm>
            <a:off x="476250" y="476250"/>
            <a:ext cx="6286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FFFFFF"/>
                </a:solidFill>
                <a:latin typeface="Arial"/>
                <a:ea typeface="Microsoft YaHei"/>
              </a:rPr>
              <a:t>BAIN &amp; COMPANY · STRATEGY CONSULTING</a:t>
            </a:r>
          </a:p>
        </p:txBody>
      </p:sp>
      <p:sp>
        <p:nvSpPr>
          <p:cNvPr id="8" name="dsl:cover-title"/>
          <p:cNvSpPr txBox="1"/>
          <p:nvPr/>
        </p:nvSpPr>
        <p:spPr>
          <a:xfrm>
            <a:off x="476250" y="1047750"/>
            <a:ext cx="666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b="1" sz="3450" noProof="1">
                <a:solidFill>
                  <a:srgbClr val="FFFFFF"/>
                </a:solidFill>
                <a:latin typeface="Georgia"/>
                <a:ea typeface="宋体"/>
              </a:rPr>
              <a:t>战略洞察报告</a:t>
            </a:r>
          </a:p>
          <a:p>
            <a:pPr algn="l">
              <a:lnSpc>
                <a:spcPct val="115000"/>
              </a:lnSpc>
            </a:pPr>
            <a:r>
              <a:rPr b="1" sz="1950" noProof="1">
                <a:solidFill>
                  <a:srgbClr val="FFB3B3"/>
                </a:solidFill>
                <a:latin typeface="Georgia"/>
                <a:ea typeface="宋体"/>
              </a:rPr>
              <a:t>Strategic Insights Report</a:t>
            </a:r>
          </a:p>
        </p:txBody>
      </p:sp>
      <p:sp>
        <p:nvSpPr>
          <p:cNvPr id="9" name="dsl:cover-subtitle"/>
          <p:cNvSpPr txBox="1"/>
          <p:nvPr/>
        </p:nvSpPr>
        <p:spPr>
          <a:xfrm>
            <a:off x="476250" y="3143250"/>
            <a:ext cx="6286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>
                <a:solidFill>
                  <a:srgbClr val="FFFFFF">
                    <a:alpha val="80000"/>
                  </a:srgbClr>
                </a:solidFill>
                <a:latin typeface="Arial"/>
                <a:ea typeface="Microsoft YaHei"/>
              </a:rPr>
              <a:t>行业深度研究 · 市场机遇 · 增长战略</a:t>
            </a:r>
          </a:p>
        </p:txBody>
      </p:sp>
      <p:cxnSp>
        <p:nvCxnSpPr>
          <p:cNvPr id="10" name="dsl:cover-divider"/>
          <p:cNvCxnSpPr/>
          <p:nvPr/>
        </p:nvCxnSpPr>
        <p:spPr>
          <a:xfrm>
            <a:off x="476250" y="3562350"/>
            <a:ext cx="1714500" cy="0"/>
          </a:xfrm>
          <a:prstGeom prst="straightConnector1">
            <a:avLst/>
          </a:prstGeom>
          <a:ln w="25400">
            <a:solidFill>
              <a:srgbClr val="CC2222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sl:cover-date"/>
          <p:cNvSpPr txBox="1"/>
          <p:nvPr/>
        </p:nvSpPr>
        <p:spPr>
          <a:xfrm>
            <a:off x="476250" y="3714750"/>
            <a:ext cx="3810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FFFFFF">
                    <a:alpha val="66666"/>
                  </a:srgbClr>
                </a:solidFill>
                <a:latin typeface="Arial"/>
                <a:ea typeface="Microsoft YaHei"/>
              </a:rPr>
              <a:t>2026年3月 · Confidential</a:t>
            </a:r>
          </a:p>
        </p:txBody>
      </p:sp>
      <p:sp>
        <p:nvSpPr>
          <p:cNvPr id="12" name="dsl:cover-org"/>
          <p:cNvSpPr txBox="1"/>
          <p:nvPr/>
        </p:nvSpPr>
        <p:spPr>
          <a:xfrm>
            <a:off x="476250" y="3962400"/>
            <a:ext cx="3810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FFFFFF">
                    <a:alpha val="53333"/>
                  </a:srgbClr>
                </a:solidFill>
                <a:latin typeface="Arial"/>
                <a:ea typeface="Microsoft YaHei"/>
              </a:rPr>
              <a:t>战略咨询部门 · Strategy &amp; Consulting</a:t>
            </a:r>
          </a:p>
        </p:txBody>
      </p:sp>
      <p:sp>
        <p:nvSpPr>
          <p:cNvPr id="13" name="dsl:kf-label"/>
          <p:cNvSpPr txBox="1"/>
          <p:nvPr/>
        </p:nvSpPr>
        <p:spPr>
          <a:xfrm>
            <a:off x="7886700" y="571500"/>
            <a:ext cx="409575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8C1515"/>
                </a:solidFill>
                <a:latin typeface="Arial"/>
                <a:ea typeface="Microsoft YaHei"/>
              </a:rPr>
              <a:t>KEY FINDINGS · 核心发现</a:t>
            </a:r>
          </a:p>
        </p:txBody>
      </p:sp>
      <p:cxnSp>
        <p:nvCxnSpPr>
          <p:cNvPr id="14" name="dsl:kf-line"/>
          <p:cNvCxnSpPr/>
          <p:nvPr/>
        </p:nvCxnSpPr>
        <p:spPr>
          <a:xfrm>
            <a:off x="7886700" y="838200"/>
            <a:ext cx="2095500" cy="0"/>
          </a:xfrm>
          <a:prstGeom prst="straightConnector1">
            <a:avLst/>
          </a:prstGeom>
          <a:ln w="25400">
            <a:solidFill>
              <a:srgbClr val="8C151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stat1-num"/>
          <p:cNvSpPr txBox="1"/>
          <p:nvPr/>
        </p:nvSpPr>
        <p:spPr>
          <a:xfrm>
            <a:off x="7886700" y="990600"/>
            <a:ext cx="40005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900" noProof="1">
                <a:solidFill>
                  <a:srgbClr val="8C1515"/>
                </a:solidFill>
                <a:latin typeface="Georgia"/>
                <a:ea typeface="宋体"/>
              </a:rPr>
              <a:t>$X.X万亿</a:t>
            </a:r>
          </a:p>
        </p:txBody>
      </p:sp>
      <p:sp>
        <p:nvSpPr>
          <p:cNvPr id="16" name="dsl:stat1-label"/>
          <p:cNvSpPr txBox="1"/>
          <p:nvPr/>
        </p:nvSpPr>
        <p:spPr>
          <a:xfrm>
            <a:off x="7886700" y="1619250"/>
            <a:ext cx="4000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8A8A8A"/>
                </a:solidFill>
                <a:latin typeface="Arial"/>
                <a:ea typeface="Microsoft YaHei"/>
              </a:rPr>
              <a:t>关键指标一（市场规模/GMV）</a:t>
            </a:r>
          </a:p>
        </p:txBody>
      </p:sp>
      <p:cxnSp>
        <p:nvCxnSpPr>
          <p:cNvPr id="17" name="dsl:sep1"/>
          <p:cNvCxnSpPr/>
          <p:nvPr/>
        </p:nvCxnSpPr>
        <p:spPr>
          <a:xfrm>
            <a:off x="7886700" y="1905000"/>
            <a:ext cx="3810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stat2-num"/>
          <p:cNvSpPr txBox="1"/>
          <p:nvPr/>
        </p:nvSpPr>
        <p:spPr>
          <a:xfrm>
            <a:off x="7886700" y="2038350"/>
            <a:ext cx="40005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900" noProof="1">
                <a:solidFill>
                  <a:srgbClr val="1A1A1A"/>
                </a:solidFill>
                <a:latin typeface="Georgia"/>
                <a:ea typeface="宋体"/>
              </a:rPr>
              <a:t>+XX%</a:t>
            </a:r>
          </a:p>
        </p:txBody>
      </p:sp>
      <p:sp>
        <p:nvSpPr>
          <p:cNvPr id="19" name="dsl:stat2-label"/>
          <p:cNvSpPr txBox="1"/>
          <p:nvPr/>
        </p:nvSpPr>
        <p:spPr>
          <a:xfrm>
            <a:off x="7886700" y="2667000"/>
            <a:ext cx="4000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8A8A8A"/>
                </a:solidFill>
                <a:latin typeface="Arial"/>
                <a:ea typeface="Microsoft YaHei"/>
              </a:rPr>
              <a:t>关键指标二（同比增速/市占率）</a:t>
            </a:r>
          </a:p>
        </p:txBody>
      </p:sp>
      <p:cxnSp>
        <p:nvCxnSpPr>
          <p:cNvPr id="20" name="dsl:sep2"/>
          <p:cNvCxnSpPr/>
          <p:nvPr/>
        </p:nvCxnSpPr>
        <p:spPr>
          <a:xfrm>
            <a:off x="7886700" y="2952750"/>
            <a:ext cx="3810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stat3-num"/>
          <p:cNvSpPr txBox="1"/>
          <p:nvPr/>
        </p:nvSpPr>
        <p:spPr>
          <a:xfrm>
            <a:off x="7886700" y="3086100"/>
            <a:ext cx="40005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900" noProof="1">
                <a:solidFill>
                  <a:srgbClr val="8C1515"/>
                </a:solidFill>
                <a:latin typeface="Georgia"/>
                <a:ea typeface="宋体"/>
              </a:rPr>
              <a:t>XX个</a:t>
            </a:r>
          </a:p>
        </p:txBody>
      </p:sp>
      <p:sp>
        <p:nvSpPr>
          <p:cNvPr id="22" name="dsl:stat3-label"/>
          <p:cNvSpPr txBox="1"/>
          <p:nvPr/>
        </p:nvSpPr>
        <p:spPr>
          <a:xfrm>
            <a:off x="7886700" y="3714750"/>
            <a:ext cx="4000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8A8A8A"/>
                </a:solidFill>
                <a:latin typeface="Arial"/>
                <a:ea typeface="Microsoft YaHei"/>
              </a:rPr>
              <a:t>关键指标三（细分/机会数量）</a:t>
            </a:r>
          </a:p>
        </p:txBody>
      </p:sp>
      <p:cxnSp>
        <p:nvCxnSpPr>
          <p:cNvPr id="23" name="dsl:sep3"/>
          <p:cNvCxnSpPr/>
          <p:nvPr/>
        </p:nvCxnSpPr>
        <p:spPr>
          <a:xfrm>
            <a:off x="7886700" y="4000500"/>
            <a:ext cx="3810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exec-title"/>
          <p:cNvSpPr txBox="1"/>
          <p:nvPr/>
        </p:nvSpPr>
        <p:spPr>
          <a:xfrm>
            <a:off x="7886700" y="4152900"/>
            <a:ext cx="4000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8C1515"/>
                </a:solidFill>
                <a:latin typeface="Arial"/>
                <a:ea typeface="Microsoft YaHei"/>
              </a:rPr>
              <a:t>EXECUTIVE SUMMARY · 执行摘要</a:t>
            </a:r>
          </a:p>
        </p:txBody>
      </p:sp>
      <p:sp>
        <p:nvSpPr>
          <p:cNvPr id="25" name="dsl:exec-text"/>
          <p:cNvSpPr txBox="1"/>
          <p:nvPr/>
        </p:nvSpPr>
        <p:spPr>
          <a:xfrm>
            <a:off x="7886700" y="4400550"/>
            <a:ext cx="40005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核心洞察一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：此处填写第一条核心洞察，应包含具体数据支撑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核心洞察二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：此处填写第二条核心洞察，体现结构性变化趋势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战略建议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：基于以上分析的核心战略行动建议</a:t>
            </a:r>
          </a:p>
        </p:txBody>
      </p:sp>
      <p:sp>
        <p:nvSpPr>
          <p:cNvPr id="26" name="dsl:disclaimer"/>
          <p:cNvSpPr txBox="1"/>
          <p:nvPr/>
        </p:nvSpPr>
        <p:spPr>
          <a:xfrm>
            <a:off x="7886700" y="6286500"/>
            <a:ext cx="40005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750" noProof="1">
                <a:solidFill>
                  <a:srgbClr val="AAAAAA"/>
                </a:solidFill>
                <a:latin typeface="Arial"/>
                <a:ea typeface="Microsoft YaHei"/>
              </a:rPr>
              <a:t>本报告仅供内部参考，不构成投资建议。数据来源于公开市场资料及自有研究模型。</a:t>
            </a:r>
          </a:p>
        </p:txBody>
      </p:sp>
      <p:sp>
        <p:nvSpPr>
          <p:cNvPr id="27" name="dsl:bottom-bar"/>
          <p:cNvSpPr/>
          <p:nvPr/>
        </p:nvSpPr>
        <p:spPr>
          <a:xfrm>
            <a:off x="7620000" y="6819900"/>
            <a:ext cx="4572000" cy="38100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oc-header"/>
          <p:cNvSpPr txBox="1"/>
          <p:nvPr/>
        </p:nvSpPr>
        <p:spPr>
          <a:xfrm>
            <a:off x="571500" y="209550"/>
            <a:ext cx="6667500" cy="4381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550" noProof="1">
                <a:solidFill>
                  <a:srgbClr val="1A1A1A"/>
                </a:solidFill>
                <a:latin typeface="Georgia"/>
                <a:ea typeface="宋体"/>
              </a:rPr>
              <a:t>CONTENTS</a:t>
            </a:r>
            <a:r>
              <a:rPr sz="1350" noProof="1">
                <a:solidFill>
                  <a:srgbClr val="8A8A8A"/>
                </a:solidFill>
                <a:latin typeface="Arial"/>
                <a:ea typeface="Microsoft YaHei"/>
              </a:rPr>
              <a:t>  目 录</a:t>
            </a:r>
          </a:p>
        </p:txBody>
      </p:sp>
      <p:cxnSp>
        <p:nvCxnSpPr>
          <p:cNvPr id="4" name="dsl:header-line"/>
          <p:cNvCxnSpPr/>
          <p:nvPr/>
        </p:nvCxnSpPr>
        <p:spPr>
          <a:xfrm>
            <a:off x="571500" y="704850"/>
            <a:ext cx="11049000" cy="0"/>
          </a:xfrm>
          <a:prstGeom prst="straightConnector1">
            <a:avLst/>
          </a:prstGeom>
          <a:ln w="25400">
            <a:solidFill>
              <a:srgbClr val="8C151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sl:num1"/>
          <p:cNvSpPr txBox="1"/>
          <p:nvPr/>
        </p:nvSpPr>
        <p:spPr>
          <a:xfrm>
            <a:off x="571500" y="895350"/>
            <a:ext cx="85725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900" noProof="1">
                <a:solidFill>
                  <a:srgbClr val="8C1515"/>
                </a:solidFill>
                <a:latin typeface="Georgia"/>
                <a:ea typeface="宋体"/>
              </a:rPr>
              <a:t>01</a:t>
            </a:r>
          </a:p>
        </p:txBody>
      </p:sp>
      <p:sp>
        <p:nvSpPr>
          <p:cNvPr id="6" name="dsl:title1"/>
          <p:cNvSpPr txBox="1"/>
          <p:nvPr/>
        </p:nvSpPr>
        <p:spPr>
          <a:xfrm>
            <a:off x="1543050" y="89535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1A1A1A"/>
                </a:solidFill>
                <a:latin typeface="Georgia"/>
                <a:ea typeface="宋体"/>
              </a:rPr>
              <a:t>章节标题一 · Section Title One</a:t>
            </a:r>
          </a:p>
        </p:txBody>
      </p:sp>
      <p:sp>
        <p:nvSpPr>
          <p:cNvPr id="7" name="dsl:desc1"/>
          <p:cNvSpPr txBox="1"/>
          <p:nvPr/>
        </p:nvSpPr>
        <p:spPr>
          <a:xfrm>
            <a:off x="1543050" y="1219200"/>
            <a:ext cx="409575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8A8A8A"/>
                </a:solidFill>
                <a:latin typeface="MiSans"/>
                <a:ea typeface="MiSans"/>
              </a:rPr>
              <a:t>此章节的简要描述，概括核心内容和分析维度</a:t>
            </a:r>
          </a:p>
        </p:txBody>
      </p:sp>
      <p:cxnSp>
        <p:nvCxnSpPr>
          <p:cNvPr id="8" name="dsl:sep1"/>
          <p:cNvCxnSpPr/>
          <p:nvPr/>
        </p:nvCxnSpPr>
        <p:spPr>
          <a:xfrm>
            <a:off x="571500" y="1600200"/>
            <a:ext cx="542925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num2"/>
          <p:cNvSpPr txBox="1"/>
          <p:nvPr/>
        </p:nvSpPr>
        <p:spPr>
          <a:xfrm>
            <a:off x="571500" y="1714500"/>
            <a:ext cx="85725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900" noProof="1">
                <a:solidFill>
                  <a:srgbClr val="8C1515"/>
                </a:solidFill>
                <a:latin typeface="Georgia"/>
                <a:ea typeface="宋体"/>
              </a:rPr>
              <a:t>02</a:t>
            </a:r>
          </a:p>
        </p:txBody>
      </p:sp>
      <p:sp>
        <p:nvSpPr>
          <p:cNvPr id="10" name="dsl:title2"/>
          <p:cNvSpPr txBox="1"/>
          <p:nvPr/>
        </p:nvSpPr>
        <p:spPr>
          <a:xfrm>
            <a:off x="1543050" y="171450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1A1A1A"/>
                </a:solidFill>
                <a:latin typeface="Georgia"/>
                <a:ea typeface="宋体"/>
              </a:rPr>
              <a:t>章节标题二 · Section Title Two</a:t>
            </a:r>
          </a:p>
        </p:txBody>
      </p:sp>
      <p:sp>
        <p:nvSpPr>
          <p:cNvPr id="11" name="dsl:desc2"/>
          <p:cNvSpPr txBox="1"/>
          <p:nvPr/>
        </p:nvSpPr>
        <p:spPr>
          <a:xfrm>
            <a:off x="1543050" y="2038350"/>
            <a:ext cx="409575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8A8A8A"/>
                </a:solidFill>
                <a:latin typeface="MiSans"/>
                <a:ea typeface="MiSans"/>
              </a:rPr>
              <a:t>此章节的简要描述，概括核心内容和分析维度</a:t>
            </a:r>
          </a:p>
        </p:txBody>
      </p:sp>
      <p:cxnSp>
        <p:nvCxnSpPr>
          <p:cNvPr id="12" name="dsl:sep2"/>
          <p:cNvCxnSpPr/>
          <p:nvPr/>
        </p:nvCxnSpPr>
        <p:spPr>
          <a:xfrm>
            <a:off x="571500" y="2419350"/>
            <a:ext cx="542925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num3"/>
          <p:cNvSpPr txBox="1"/>
          <p:nvPr/>
        </p:nvSpPr>
        <p:spPr>
          <a:xfrm>
            <a:off x="571500" y="2533650"/>
            <a:ext cx="85725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900" noProof="1">
                <a:solidFill>
                  <a:srgbClr val="8C1515"/>
                </a:solidFill>
                <a:latin typeface="Georgia"/>
                <a:ea typeface="宋体"/>
              </a:rPr>
              <a:t>03</a:t>
            </a:r>
          </a:p>
        </p:txBody>
      </p:sp>
      <p:sp>
        <p:nvSpPr>
          <p:cNvPr id="14" name="dsl:title3"/>
          <p:cNvSpPr txBox="1"/>
          <p:nvPr/>
        </p:nvSpPr>
        <p:spPr>
          <a:xfrm>
            <a:off x="1543050" y="253365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1A1A1A"/>
                </a:solidFill>
                <a:latin typeface="Georgia"/>
                <a:ea typeface="宋体"/>
              </a:rPr>
              <a:t>章节标题三 · Section Title Three</a:t>
            </a:r>
          </a:p>
        </p:txBody>
      </p:sp>
      <p:sp>
        <p:nvSpPr>
          <p:cNvPr id="15" name="dsl:desc3"/>
          <p:cNvSpPr txBox="1"/>
          <p:nvPr/>
        </p:nvSpPr>
        <p:spPr>
          <a:xfrm>
            <a:off x="1543050" y="2857500"/>
            <a:ext cx="409575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8A8A8A"/>
                </a:solidFill>
                <a:latin typeface="MiSans"/>
                <a:ea typeface="MiSans"/>
              </a:rPr>
              <a:t>此章节的简要描述，概括核心内容和分析维度</a:t>
            </a:r>
          </a:p>
        </p:txBody>
      </p:sp>
      <p:cxnSp>
        <p:nvCxnSpPr>
          <p:cNvPr id="16" name="dsl:sep3"/>
          <p:cNvCxnSpPr/>
          <p:nvPr/>
        </p:nvCxnSpPr>
        <p:spPr>
          <a:xfrm>
            <a:off x="571500" y="3238500"/>
            <a:ext cx="542925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num4"/>
          <p:cNvSpPr txBox="1"/>
          <p:nvPr/>
        </p:nvSpPr>
        <p:spPr>
          <a:xfrm>
            <a:off x="571500" y="3352800"/>
            <a:ext cx="85725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900" noProof="1">
                <a:solidFill>
                  <a:srgbClr val="8C1515"/>
                </a:solidFill>
                <a:latin typeface="Georgia"/>
                <a:ea typeface="宋体"/>
              </a:rPr>
              <a:t>04</a:t>
            </a:r>
          </a:p>
        </p:txBody>
      </p:sp>
      <p:sp>
        <p:nvSpPr>
          <p:cNvPr id="18" name="dsl:title4"/>
          <p:cNvSpPr txBox="1"/>
          <p:nvPr/>
        </p:nvSpPr>
        <p:spPr>
          <a:xfrm>
            <a:off x="1543050" y="335280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1A1A1A"/>
                </a:solidFill>
                <a:latin typeface="Georgia"/>
                <a:ea typeface="宋体"/>
              </a:rPr>
              <a:t>章节标题四 · Section Title Four</a:t>
            </a:r>
          </a:p>
        </p:txBody>
      </p:sp>
      <p:sp>
        <p:nvSpPr>
          <p:cNvPr id="19" name="dsl:desc4"/>
          <p:cNvSpPr txBox="1"/>
          <p:nvPr/>
        </p:nvSpPr>
        <p:spPr>
          <a:xfrm>
            <a:off x="1543050" y="3676650"/>
            <a:ext cx="409575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8A8A8A"/>
                </a:solidFill>
                <a:latin typeface="MiSans"/>
                <a:ea typeface="MiSans"/>
              </a:rPr>
              <a:t>此章节的简要描述，概括核心内容和分析维度</a:t>
            </a:r>
          </a:p>
        </p:txBody>
      </p:sp>
      <p:cxnSp>
        <p:nvCxnSpPr>
          <p:cNvPr id="20" name="dsl:sep4"/>
          <p:cNvCxnSpPr/>
          <p:nvPr/>
        </p:nvCxnSpPr>
        <p:spPr>
          <a:xfrm>
            <a:off x="571500" y="4057650"/>
            <a:ext cx="542925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col-divider"/>
          <p:cNvCxnSpPr/>
          <p:nvPr/>
        </p:nvCxnSpPr>
        <p:spPr>
          <a:xfrm>
            <a:off x="6210300" y="704850"/>
            <a:ext cx="0" cy="533400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theme-label"/>
          <p:cNvSpPr txBox="1"/>
          <p:nvPr/>
        </p:nvSpPr>
        <p:spPr>
          <a:xfrm>
            <a:off x="6496050" y="819150"/>
            <a:ext cx="5143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8C1515"/>
                </a:solidFill>
                <a:latin typeface="Arial"/>
                <a:ea typeface="Microsoft YaHei"/>
              </a:rPr>
              <a:t>CORE THEMES · 核心议题</a:t>
            </a:r>
          </a:p>
        </p:txBody>
      </p:sp>
      <p:cxnSp>
        <p:nvCxnSpPr>
          <p:cNvPr id="23" name="dsl:theme-line"/>
          <p:cNvCxnSpPr/>
          <p:nvPr/>
        </p:nvCxnSpPr>
        <p:spPr>
          <a:xfrm>
            <a:off x="6496050" y="1066800"/>
            <a:ext cx="2286000" cy="0"/>
          </a:xfrm>
          <a:prstGeom prst="straightConnector1">
            <a:avLst/>
          </a:prstGeom>
          <a:ln w="25400">
            <a:solidFill>
              <a:srgbClr val="8C151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theme1-box"/>
          <p:cNvSpPr/>
          <p:nvPr/>
        </p:nvSpPr>
        <p:spPr>
          <a:xfrm>
            <a:off x="6496050" y="1219200"/>
            <a:ext cx="5143500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theme1-num"/>
          <p:cNvSpPr/>
          <p:nvPr/>
        </p:nvSpPr>
        <p:spPr>
          <a:xfrm>
            <a:off x="6496050" y="1219200"/>
            <a:ext cx="57150" cy="685800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theme1-text"/>
          <p:cNvSpPr txBox="1"/>
          <p:nvPr/>
        </p:nvSpPr>
        <p:spPr>
          <a:xfrm>
            <a:off x="6667500" y="1276350"/>
            <a:ext cx="485775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核心议题一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：此处填写第一个核心议题的简要描述，体现研究的战略价值</a:t>
            </a:r>
          </a:p>
        </p:txBody>
      </p:sp>
      <p:sp>
        <p:nvSpPr>
          <p:cNvPr id="27" name="dsl:theme2-box"/>
          <p:cNvSpPr/>
          <p:nvPr/>
        </p:nvSpPr>
        <p:spPr>
          <a:xfrm>
            <a:off x="6496050" y="2019300"/>
            <a:ext cx="5143500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theme2-num"/>
          <p:cNvSpPr/>
          <p:nvPr/>
        </p:nvSpPr>
        <p:spPr>
          <a:xfrm>
            <a:off x="6496050" y="2019300"/>
            <a:ext cx="57150" cy="685800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theme2-text"/>
          <p:cNvSpPr txBox="1"/>
          <p:nvPr/>
        </p:nvSpPr>
        <p:spPr>
          <a:xfrm>
            <a:off x="6667500" y="2076450"/>
            <a:ext cx="485775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核心议题二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：此处填写第二个核心议题的简要描述，体现市场结构变化</a:t>
            </a:r>
          </a:p>
        </p:txBody>
      </p:sp>
      <p:sp>
        <p:nvSpPr>
          <p:cNvPr id="30" name="dsl:theme3-box"/>
          <p:cNvSpPr/>
          <p:nvPr/>
        </p:nvSpPr>
        <p:spPr>
          <a:xfrm>
            <a:off x="6496050" y="2819400"/>
            <a:ext cx="5143500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sl:theme3-num"/>
          <p:cNvSpPr/>
          <p:nvPr/>
        </p:nvSpPr>
        <p:spPr>
          <a:xfrm>
            <a:off x="6496050" y="2819400"/>
            <a:ext cx="57150" cy="685800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theme3-text"/>
          <p:cNvSpPr txBox="1"/>
          <p:nvPr/>
        </p:nvSpPr>
        <p:spPr>
          <a:xfrm>
            <a:off x="6667500" y="2876550"/>
            <a:ext cx="485775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核心议题三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：此处填写第三个核心议题的简要描述，体现竞争格局演变</a:t>
            </a:r>
          </a:p>
        </p:txBody>
      </p:sp>
      <p:sp>
        <p:nvSpPr>
          <p:cNvPr id="33" name="dsl:theme4-box"/>
          <p:cNvSpPr/>
          <p:nvPr/>
        </p:nvSpPr>
        <p:spPr>
          <a:xfrm>
            <a:off x="6496050" y="3619500"/>
            <a:ext cx="5143500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theme4-num"/>
          <p:cNvSpPr/>
          <p:nvPr/>
        </p:nvSpPr>
        <p:spPr>
          <a:xfrm>
            <a:off x="6496050" y="3619500"/>
            <a:ext cx="57150" cy="685800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sl:theme4-text"/>
          <p:cNvSpPr txBox="1"/>
          <p:nvPr/>
        </p:nvSpPr>
        <p:spPr>
          <a:xfrm>
            <a:off x="6667500" y="3676650"/>
            <a:ext cx="485775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核心议题四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：此处填写第四个核心议题的简要描述，体现战略建议框架</a:t>
            </a:r>
          </a:p>
        </p:txBody>
      </p:sp>
      <p:cxnSp>
        <p:nvCxnSpPr>
          <p:cNvPr id="36" name="dsl:footer-line"/>
          <p:cNvCxnSpPr/>
          <p:nvPr/>
        </p:nvCxnSpPr>
        <p:spPr>
          <a:xfrm>
            <a:off x="571500" y="6267450"/>
            <a:ext cx="11049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sl:page-num"/>
          <p:cNvSpPr txBox="1"/>
          <p:nvPr/>
        </p:nvSpPr>
        <p:spPr>
          <a:xfrm>
            <a:off x="11239500" y="63436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8A8A8A"/>
                </a:solidFill>
                <a:latin typeface="MiSans"/>
                <a:ea typeface="Mi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red-panel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nel-accent-top"/>
          <p:cNvSpPr/>
          <p:nvPr/>
        </p:nvSpPr>
        <p:spPr>
          <a:xfrm>
            <a:off x="0" y="0"/>
            <a:ext cx="4572000" cy="38100"/>
          </a:xfrm>
          <a:prstGeom prst="rect">
            <a:avLst/>
          </a:prstGeom>
          <a:solidFill>
            <a:srgbClr val="6B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apter-label"/>
          <p:cNvSpPr txBox="1"/>
          <p:nvPr/>
        </p:nvSpPr>
        <p:spPr>
          <a:xfrm>
            <a:off x="476250" y="571500"/>
            <a:ext cx="3619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FFFFFF">
                    <a:alpha val="66666"/>
                  </a:srgbClr>
                </a:solidFill>
                <a:latin typeface="Arial"/>
                <a:ea typeface="Microsoft YaHei"/>
              </a:rPr>
              <a:t>CHAPTER · 章节</a:t>
            </a:r>
          </a:p>
        </p:txBody>
      </p:sp>
      <p:sp>
        <p:nvSpPr>
          <p:cNvPr id="5" name="dsl:chapter-num"/>
          <p:cNvSpPr txBox="1"/>
          <p:nvPr/>
        </p:nvSpPr>
        <p:spPr>
          <a:xfrm>
            <a:off x="381000" y="952500"/>
            <a:ext cx="3810000" cy="1905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0" noProof="1">
                <a:solidFill>
                  <a:srgbClr val="FFFFFF">
                    <a:alpha val="14901"/>
                  </a:srgbClr>
                </a:solidFill>
                <a:latin typeface="Georgia"/>
                <a:ea typeface="宋体"/>
              </a:rPr>
              <a:t>01</a:t>
            </a:r>
          </a:p>
        </p:txBody>
      </p:sp>
      <p:sp>
        <p:nvSpPr>
          <p:cNvPr id="6" name="dsl:chapter-title"/>
          <p:cNvSpPr txBox="1"/>
          <p:nvPr/>
        </p:nvSpPr>
        <p:spPr>
          <a:xfrm>
            <a:off x="476250" y="3238500"/>
            <a:ext cx="3810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250" noProof="1">
                <a:solidFill>
                  <a:srgbClr val="FFFFFF"/>
                </a:solidFill>
                <a:latin typeface="Georgia"/>
                <a:ea typeface="宋体"/>
              </a:rPr>
              <a:t>章节标题</a:t>
            </a:r>
          </a:p>
          <a:p>
            <a:pPr algn="l">
              <a:lnSpc>
                <a:spcPct val="120000"/>
              </a:lnSpc>
            </a:pPr>
            <a:r>
              <a:rPr sz="1350" noProof="1">
                <a:solidFill>
                  <a:srgbClr val="FFB3B3"/>
                </a:solidFill>
                <a:latin typeface="Georgia"/>
                <a:ea typeface="宋体"/>
              </a:rPr>
              <a:t>Section Title</a:t>
            </a:r>
          </a:p>
        </p:txBody>
      </p:sp>
      <p:cxnSp>
        <p:nvCxnSpPr>
          <p:cNvPr id="7" name="dsl:title-divider"/>
          <p:cNvCxnSpPr/>
          <p:nvPr/>
        </p:nvCxnSpPr>
        <p:spPr>
          <a:xfrm>
            <a:off x="476250" y="4533900"/>
            <a:ext cx="1524000" cy="0"/>
          </a:xfrm>
          <a:prstGeom prst="straightConnector1">
            <a:avLst/>
          </a:prstGeom>
          <a:ln w="38100">
            <a:solidFill>
              <a:srgbClr val="FFFFFF">
                <a:alpha val="66666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chapter-desc"/>
          <p:cNvSpPr txBox="1"/>
          <p:nvPr/>
        </p:nvSpPr>
        <p:spPr>
          <a:xfrm>
            <a:off x="476250" y="4686300"/>
            <a:ext cx="3810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FFFFFF">
                    <a:alpha val="80000"/>
                  </a:srgbClr>
                </a:solidFill>
                <a:latin typeface="Arial"/>
                <a:ea typeface="Microsoft YaHei"/>
              </a:rPr>
              <a:t>章节简要描述，概括本章核心研究内容及主要结论方向</a:t>
            </a:r>
          </a:p>
        </p:txBody>
      </p:sp>
      <p:sp>
        <p:nvSpPr>
          <p:cNvPr id="9" name="dsl:overview-label"/>
          <p:cNvSpPr txBox="1"/>
          <p:nvPr/>
        </p:nvSpPr>
        <p:spPr>
          <a:xfrm>
            <a:off x="5048250" y="571500"/>
            <a:ext cx="65722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8C1515"/>
                </a:solidFill>
                <a:latin typeface="Arial"/>
                <a:ea typeface="Microsoft YaHei"/>
              </a:rPr>
              <a:t>SECTION OVERVIEW · 章节概览</a:t>
            </a:r>
          </a:p>
        </p:txBody>
      </p:sp>
      <p:cxnSp>
        <p:nvCxnSpPr>
          <p:cNvPr id="10" name="dsl:overview-line"/>
          <p:cNvCxnSpPr/>
          <p:nvPr/>
        </p:nvCxnSpPr>
        <p:spPr>
          <a:xfrm>
            <a:off x="5048250" y="819150"/>
            <a:ext cx="1905000" cy="0"/>
          </a:xfrm>
          <a:prstGeom prst="straightConnector1">
            <a:avLst/>
          </a:prstGeom>
          <a:ln w="25400">
            <a:solidFill>
              <a:srgbClr val="8C151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sl:kp1-num-bg"/>
          <p:cNvSpPr/>
          <p:nvPr/>
        </p:nvSpPr>
        <p:spPr>
          <a:xfrm>
            <a:off x="5048250" y="1047750"/>
            <a:ext cx="361950" cy="419100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kp1-num-txt"/>
          <p:cNvSpPr txBox="1"/>
          <p:nvPr/>
        </p:nvSpPr>
        <p:spPr>
          <a:xfrm>
            <a:off x="5048250" y="1047750"/>
            <a:ext cx="36195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650" noProof="1">
                <a:solidFill>
                  <a:srgbClr val="FFFFFF"/>
                </a:solidFill>
                <a:latin typeface="Georgia"/>
                <a:ea typeface="宋体"/>
              </a:rPr>
              <a:t>1</a:t>
            </a:r>
          </a:p>
        </p:txBody>
      </p:sp>
      <p:sp>
        <p:nvSpPr>
          <p:cNvPr id="13" name="dsl:kp1-text"/>
          <p:cNvSpPr txBox="1"/>
          <p:nvPr/>
        </p:nvSpPr>
        <p:spPr>
          <a:xfrm>
            <a:off x="5505450" y="1009650"/>
            <a:ext cx="6191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125" noProof="1">
                <a:solidFill>
                  <a:srgbClr val="1A1A1A"/>
                </a:solidFill>
                <a:latin typeface="Georgia"/>
                <a:ea typeface="宋体"/>
              </a:rPr>
              <a:t>关键论点一</a:t>
            </a:r>
          </a:p>
          <a:p>
            <a:pPr algn="l">
              <a:lnSpc>
                <a:spcPct val="160000"/>
              </a:lnSpc>
            </a:pPr>
            <a:r>
              <a:rPr sz="975" noProof="1">
                <a:solidFill>
                  <a:srgbClr val="555555"/>
                </a:solidFill>
                <a:latin typeface="Arial"/>
                <a:ea typeface="Microsoft YaHei"/>
              </a:rPr>
              <a:t>此处填写该章节第一个关键论点的详细描述，应包含具体数据或案例支撑</a:t>
            </a:r>
          </a:p>
        </p:txBody>
      </p:sp>
      <p:cxnSp>
        <p:nvCxnSpPr>
          <p:cNvPr id="14" name="dsl:kp1-sep"/>
          <p:cNvCxnSpPr/>
          <p:nvPr/>
        </p:nvCxnSpPr>
        <p:spPr>
          <a:xfrm>
            <a:off x="5048250" y="1905000"/>
            <a:ext cx="66675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kp2-num-bg"/>
          <p:cNvSpPr/>
          <p:nvPr/>
        </p:nvSpPr>
        <p:spPr>
          <a:xfrm>
            <a:off x="5048250" y="2076450"/>
            <a:ext cx="361950" cy="419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kp2-num-txt"/>
          <p:cNvSpPr txBox="1"/>
          <p:nvPr/>
        </p:nvSpPr>
        <p:spPr>
          <a:xfrm>
            <a:off x="5048250" y="2076450"/>
            <a:ext cx="36195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650" noProof="1">
                <a:solidFill>
                  <a:srgbClr val="FFFFFF"/>
                </a:solidFill>
                <a:latin typeface="Georgia"/>
                <a:ea typeface="宋体"/>
              </a:rPr>
              <a:t>2</a:t>
            </a:r>
          </a:p>
        </p:txBody>
      </p:sp>
      <p:sp>
        <p:nvSpPr>
          <p:cNvPr id="17" name="dsl:kp2-text"/>
          <p:cNvSpPr txBox="1"/>
          <p:nvPr/>
        </p:nvSpPr>
        <p:spPr>
          <a:xfrm>
            <a:off x="5505450" y="2038350"/>
            <a:ext cx="6191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125" noProof="1">
                <a:solidFill>
                  <a:srgbClr val="1A1A1A"/>
                </a:solidFill>
                <a:latin typeface="Georgia"/>
                <a:ea typeface="宋体"/>
              </a:rPr>
              <a:t>关键论点二</a:t>
            </a:r>
          </a:p>
          <a:p>
            <a:pPr algn="l">
              <a:lnSpc>
                <a:spcPct val="160000"/>
              </a:lnSpc>
            </a:pPr>
            <a:r>
              <a:rPr sz="975" noProof="1">
                <a:solidFill>
                  <a:srgbClr val="555555"/>
                </a:solidFill>
                <a:latin typeface="Arial"/>
                <a:ea typeface="Microsoft YaHei"/>
              </a:rPr>
              <a:t>此处填写该章节第二个关键论点，体现市场结构或竞争态势的变化逻辑</a:t>
            </a:r>
          </a:p>
        </p:txBody>
      </p:sp>
      <p:cxnSp>
        <p:nvCxnSpPr>
          <p:cNvPr id="18" name="dsl:kp2-sep"/>
          <p:cNvCxnSpPr/>
          <p:nvPr/>
        </p:nvCxnSpPr>
        <p:spPr>
          <a:xfrm>
            <a:off x="5048250" y="2933700"/>
            <a:ext cx="66675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kp3-num-bg"/>
          <p:cNvSpPr/>
          <p:nvPr/>
        </p:nvSpPr>
        <p:spPr>
          <a:xfrm>
            <a:off x="5048250" y="3105150"/>
            <a:ext cx="361950" cy="419100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kp3-num-txt"/>
          <p:cNvSpPr txBox="1"/>
          <p:nvPr/>
        </p:nvSpPr>
        <p:spPr>
          <a:xfrm>
            <a:off x="5048250" y="3105150"/>
            <a:ext cx="36195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650" noProof="1">
                <a:solidFill>
                  <a:srgbClr val="FFFFFF"/>
                </a:solidFill>
                <a:latin typeface="Georgia"/>
                <a:ea typeface="宋体"/>
              </a:rPr>
              <a:t>3</a:t>
            </a:r>
          </a:p>
        </p:txBody>
      </p:sp>
      <p:sp>
        <p:nvSpPr>
          <p:cNvPr id="21" name="dsl:kp3-text"/>
          <p:cNvSpPr txBox="1"/>
          <p:nvPr/>
        </p:nvSpPr>
        <p:spPr>
          <a:xfrm>
            <a:off x="5505450" y="3067050"/>
            <a:ext cx="6191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125" noProof="1">
                <a:solidFill>
                  <a:srgbClr val="1A1A1A"/>
                </a:solidFill>
                <a:latin typeface="Georgia"/>
                <a:ea typeface="宋体"/>
              </a:rPr>
              <a:t>关键论点三</a:t>
            </a:r>
          </a:p>
          <a:p>
            <a:pPr algn="l">
              <a:lnSpc>
                <a:spcPct val="160000"/>
              </a:lnSpc>
            </a:pPr>
            <a:r>
              <a:rPr sz="975" noProof="1">
                <a:solidFill>
                  <a:srgbClr val="555555"/>
                </a:solidFill>
                <a:latin typeface="Arial"/>
                <a:ea typeface="Microsoft YaHei"/>
              </a:rPr>
              <a:t>此处填写该章节第三个关键论点，指向战略建议或投资启示</a:t>
            </a:r>
          </a:p>
        </p:txBody>
      </p:sp>
      <p:cxnSp>
        <p:nvCxnSpPr>
          <p:cNvPr id="22" name="dsl:kp3-sep"/>
          <p:cNvCxnSpPr/>
          <p:nvPr/>
        </p:nvCxnSpPr>
        <p:spPr>
          <a:xfrm>
            <a:off x="5048250" y="3962400"/>
            <a:ext cx="66675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sl:data-preview-label"/>
          <p:cNvSpPr txBox="1"/>
          <p:nvPr/>
        </p:nvSpPr>
        <p:spPr>
          <a:xfrm>
            <a:off x="5048250" y="4114800"/>
            <a:ext cx="6667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8C1515"/>
                </a:solidFill>
                <a:latin typeface="Arial"/>
                <a:ea typeface="Microsoft YaHei"/>
              </a:rPr>
              <a:t>KEY METRICS · 核心数据</a:t>
            </a:r>
          </a:p>
        </p:txBody>
      </p:sp>
      <p:sp>
        <p:nvSpPr>
          <p:cNvPr id="24" name="dsl:kpi1-val"/>
          <p:cNvSpPr txBox="1"/>
          <p:nvPr/>
        </p:nvSpPr>
        <p:spPr>
          <a:xfrm>
            <a:off x="5048250" y="4381500"/>
            <a:ext cx="2095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8C1515"/>
                </a:solidFill>
                <a:latin typeface="Georgia"/>
                <a:ea typeface="宋体"/>
              </a:rPr>
              <a:t>$XX%</a:t>
            </a:r>
          </a:p>
        </p:txBody>
      </p:sp>
      <p:sp>
        <p:nvSpPr>
          <p:cNvPr id="25" name="dsl:kpi1-desc"/>
          <p:cNvSpPr txBox="1"/>
          <p:nvPr/>
        </p:nvSpPr>
        <p:spPr>
          <a:xfrm>
            <a:off x="5048250" y="4857750"/>
            <a:ext cx="2095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8A8A8A"/>
                </a:solidFill>
                <a:latin typeface="MiSans"/>
                <a:ea typeface="MiSans"/>
              </a:rPr>
              <a:t>核心指标一</a:t>
            </a:r>
          </a:p>
        </p:txBody>
      </p:sp>
      <p:cxnSp>
        <p:nvCxnSpPr>
          <p:cNvPr id="26" name="dsl:kpi-vdiv"/>
          <p:cNvCxnSpPr/>
          <p:nvPr/>
        </p:nvCxnSpPr>
        <p:spPr>
          <a:xfrm>
            <a:off x="7181850" y="4343400"/>
            <a:ext cx="0" cy="76200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sl:kpi2-val"/>
          <p:cNvSpPr txBox="1"/>
          <p:nvPr/>
        </p:nvSpPr>
        <p:spPr>
          <a:xfrm>
            <a:off x="7334250" y="4381500"/>
            <a:ext cx="2095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1A1A1A"/>
                </a:solidFill>
                <a:latin typeface="Georgia"/>
                <a:ea typeface="宋体"/>
              </a:rPr>
              <a:t>+XX</a:t>
            </a:r>
          </a:p>
        </p:txBody>
      </p:sp>
      <p:sp>
        <p:nvSpPr>
          <p:cNvPr id="28" name="dsl:kpi2-desc"/>
          <p:cNvSpPr txBox="1"/>
          <p:nvPr/>
        </p:nvSpPr>
        <p:spPr>
          <a:xfrm>
            <a:off x="7334250" y="4857750"/>
            <a:ext cx="2095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8A8A8A"/>
                </a:solidFill>
                <a:latin typeface="MiSans"/>
                <a:ea typeface="MiSans"/>
              </a:rPr>
              <a:t>核心指标二</a:t>
            </a:r>
          </a:p>
        </p:txBody>
      </p:sp>
      <p:cxnSp>
        <p:nvCxnSpPr>
          <p:cNvPr id="29" name="dsl:kpi-vdiv2"/>
          <p:cNvCxnSpPr/>
          <p:nvPr/>
        </p:nvCxnSpPr>
        <p:spPr>
          <a:xfrm>
            <a:off x="9467850" y="4343400"/>
            <a:ext cx="0" cy="76200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sl:kpi3-val"/>
          <p:cNvSpPr txBox="1"/>
          <p:nvPr/>
        </p:nvSpPr>
        <p:spPr>
          <a:xfrm>
            <a:off x="9620250" y="4381500"/>
            <a:ext cx="2095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8C1515"/>
                </a:solidFill>
                <a:latin typeface="Georgia"/>
                <a:ea typeface="宋体"/>
              </a:rPr>
              <a:t>XX个</a:t>
            </a:r>
          </a:p>
        </p:txBody>
      </p:sp>
      <p:sp>
        <p:nvSpPr>
          <p:cNvPr id="31" name="dsl:kpi3-desc"/>
          <p:cNvSpPr txBox="1"/>
          <p:nvPr/>
        </p:nvSpPr>
        <p:spPr>
          <a:xfrm>
            <a:off x="9620250" y="4857750"/>
            <a:ext cx="2095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8A8A8A"/>
                </a:solidFill>
                <a:latin typeface="MiSans"/>
                <a:ea typeface="MiSans"/>
              </a:rPr>
              <a:t>核心指标三</a:t>
            </a:r>
          </a:p>
        </p:txBody>
      </p:sp>
      <p:cxnSp>
        <p:nvCxnSpPr>
          <p:cNvPr id="32" name="dsl:footer-line"/>
          <p:cNvCxnSpPr/>
          <p:nvPr/>
        </p:nvCxnSpPr>
        <p:spPr>
          <a:xfrm>
            <a:off x="5048250" y="6267450"/>
            <a:ext cx="66675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sl:page-num"/>
          <p:cNvSpPr txBox="1"/>
          <p:nvPr/>
        </p:nvSpPr>
        <p:spPr>
          <a:xfrm>
            <a:off x="11239500" y="63436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8A8A8A"/>
                </a:solidFill>
                <a:latin typeface="MiSans"/>
                <a:ea typeface="Mi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"/>
          <p:cNvSpPr txBox="1"/>
          <p:nvPr/>
        </p:nvSpPr>
        <p:spPr>
          <a:xfrm>
            <a:off x="571500" y="114300"/>
            <a:ext cx="10477500" cy="5524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650" noProof="1">
                <a:solidFill>
                  <a:srgbClr val="1A1A1A"/>
                </a:solidFill>
                <a:latin typeface="Georgia"/>
                <a:ea typeface="宋体"/>
              </a:rPr>
              <a:t>市场领导者的竞争优势已构筑护城河，后来者进入成本在三年内上升40% — 窗口期正在关闭</a:t>
            </a:r>
          </a:p>
        </p:txBody>
      </p:sp>
      <p:cxnSp>
        <p:nvCxnSpPr>
          <p:cNvPr id="4" name="dsl:title-underline"/>
          <p:cNvCxnSpPr/>
          <p:nvPr/>
        </p:nvCxnSpPr>
        <p:spPr>
          <a:xfrm>
            <a:off x="571500" y="723900"/>
            <a:ext cx="11049000" cy="0"/>
          </a:xfrm>
          <a:prstGeom prst="straightConnector1">
            <a:avLst/>
          </a:prstGeom>
          <a:ln w="25400">
            <a:solidFill>
              <a:srgbClr val="8C151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sl:left-group1-title"/>
          <p:cNvSpPr txBox="1"/>
          <p:nvPr/>
        </p:nvSpPr>
        <p:spPr>
          <a:xfrm>
            <a:off x="571500" y="819150"/>
            <a:ext cx="523875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975" noProof="1">
                <a:solidFill>
                  <a:srgbClr val="8C1515"/>
                </a:solidFill>
                <a:latin typeface="Arial"/>
                <a:ea typeface="Microsoft YaHei"/>
              </a:rPr>
              <a:t>竞争壁垒构建 · COMPETITIVE MOATS</a:t>
            </a:r>
          </a:p>
        </p:txBody>
      </p:sp>
      <p:sp>
        <p:nvSpPr>
          <p:cNvPr id="6" name="dsl:left-bullets1"/>
          <p:cNvSpPr txBox="1"/>
          <p:nvPr/>
        </p:nvSpPr>
        <p:spPr>
          <a:xfrm>
            <a:off x="571500" y="1085850"/>
            <a:ext cx="5334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规模效应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：领先者单位成本较行业均值低</a:t>
            </a:r>
            <a:r>
              <a:rPr b="1" sz="1050" noProof="1">
                <a:solidFill>
                  <a:srgbClr val="8C1515"/>
                </a:solidFill>
                <a:latin typeface="Arial"/>
                <a:ea typeface="Microsoft YaHei"/>
              </a:rPr>
              <a:t>28%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，并以年均3-5pp持续扩大优势，形成难以复制的成本护城河</a:t>
            </a:r>
          </a:p>
          <a:p>
            <a:pPr algn="l">
              <a:lnSpc>
                <a:spcPct val="165000"/>
              </a:lnSpc>
              <a:spcBef>
                <a:spcPts val="450"/>
              </a:spcBef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数据飞轮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：累积用户行为数据超</a:t>
            </a:r>
            <a:r>
              <a:rPr b="1" sz="1050" noProof="1">
                <a:solidFill>
                  <a:srgbClr val="8C1515"/>
                </a:solidFill>
                <a:latin typeface="Arial"/>
                <a:ea typeface="Microsoft YaHei"/>
              </a:rPr>
              <a:t>50亿条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，算法迭代速度是后进者的3.2倍，构成技术壁垒</a:t>
            </a:r>
          </a:p>
          <a:p>
            <a:pPr algn="l">
              <a:lnSpc>
                <a:spcPct val="165000"/>
              </a:lnSpc>
              <a:spcBef>
                <a:spcPts val="450"/>
              </a:spcBef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生态锁定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：合作伙伴迁移成本平均</a:t>
            </a:r>
            <a:r>
              <a:rPr b="1" sz="1050" noProof="1">
                <a:solidFill>
                  <a:srgbClr val="8C1515"/>
                </a:solidFill>
                <a:latin typeface="Arial"/>
                <a:ea typeface="Microsoft YaHei"/>
              </a:rPr>
              <a:t>¥1,800万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，客户续约率维持在</a:t>
            </a:r>
            <a:r>
              <a:rPr b="1" sz="1050" noProof="1">
                <a:solidFill>
                  <a:srgbClr val="8C1515"/>
                </a:solidFill>
                <a:latin typeface="Arial"/>
                <a:ea typeface="Microsoft YaHei"/>
              </a:rPr>
              <a:t>94%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以上</a:t>
            </a:r>
          </a:p>
          <a:p>
            <a:pPr algn="l">
              <a:lnSpc>
                <a:spcPct val="165000"/>
              </a:lnSpc>
              <a:spcBef>
                <a:spcPts val="450"/>
              </a:spcBef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品牌溢价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：消费者愿意为头部品牌支付</a:t>
            </a:r>
            <a:r>
              <a:rPr b="1" sz="1050" noProof="1">
                <a:solidFill>
                  <a:srgbClr val="8C1515"/>
                </a:solidFill>
                <a:latin typeface="Arial"/>
                <a:ea typeface="Microsoft YaHei"/>
              </a:rPr>
              <a:t>15-22%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的溢价，且该差距近两年持续扩大</a:t>
            </a:r>
          </a:p>
        </p:txBody>
      </p:sp>
      <p:cxnSp>
        <p:nvCxnSpPr>
          <p:cNvPr id="7" name="dsl:left-divider"/>
          <p:cNvCxnSpPr/>
          <p:nvPr/>
        </p:nvCxnSpPr>
        <p:spPr>
          <a:xfrm>
            <a:off x="571500" y="3333750"/>
            <a:ext cx="5334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left-group2-title"/>
          <p:cNvSpPr txBox="1"/>
          <p:nvPr/>
        </p:nvSpPr>
        <p:spPr>
          <a:xfrm>
            <a:off x="571500" y="3429000"/>
            <a:ext cx="523875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975" noProof="1">
                <a:solidFill>
                  <a:srgbClr val="8C1515"/>
                </a:solidFill>
                <a:latin typeface="Arial"/>
                <a:ea typeface="Microsoft YaHei"/>
              </a:rPr>
              <a:t>后进者困境 · LATE-MOVER DISADVANTAGES</a:t>
            </a:r>
          </a:p>
        </p:txBody>
      </p:sp>
      <p:sp>
        <p:nvSpPr>
          <p:cNvPr id="9" name="dsl:left-bullets2"/>
          <p:cNvSpPr txBox="1"/>
          <p:nvPr/>
        </p:nvSpPr>
        <p:spPr>
          <a:xfrm>
            <a:off x="571500" y="3695700"/>
            <a:ext cx="533400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获客成本飙升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：平台流量红利消退，2023-2025年CAC年均上涨</a:t>
            </a:r>
            <a:r>
              <a:rPr b="1" sz="1050" noProof="1">
                <a:solidFill>
                  <a:srgbClr val="8C1515"/>
                </a:solidFill>
                <a:latin typeface="Arial"/>
                <a:ea typeface="Microsoft YaHei"/>
              </a:rPr>
              <a:t>35%</a:t>
            </a:r>
          </a:p>
          <a:p>
            <a:pPr algn="l">
              <a:lnSpc>
                <a:spcPct val="165000"/>
              </a:lnSpc>
              <a:spcBef>
                <a:spcPts val="450"/>
              </a:spcBef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融资环境收紧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：一级市场估值倍数从2021年峰值下降</a:t>
            </a:r>
            <a:r>
              <a:rPr b="1" sz="1050" noProof="1">
                <a:solidFill>
                  <a:srgbClr val="8C1515"/>
                </a:solidFill>
                <a:latin typeface="Arial"/>
                <a:ea typeface="Microsoft YaHei"/>
              </a:rPr>
              <a:t>62%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，新进者融资窗口收窄</a:t>
            </a:r>
          </a:p>
          <a:p>
            <a:pPr algn="l">
              <a:lnSpc>
                <a:spcPct val="165000"/>
              </a:lnSpc>
              <a:spcBef>
                <a:spcPts val="450"/>
              </a:spcBef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人才溢价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：核心技术人才薪酬中位数已达行业均值的</a:t>
            </a:r>
            <a:r>
              <a:rPr b="1" sz="1050" noProof="1">
                <a:solidFill>
                  <a:srgbClr val="8C1515"/>
                </a:solidFill>
                <a:latin typeface="Arial"/>
                <a:ea typeface="Microsoft YaHei"/>
              </a:rPr>
              <a:t>2.4倍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，领先者掌握大量优质人才</a:t>
            </a:r>
          </a:p>
        </p:txBody>
      </p:sp>
      <p:cxnSp>
        <p:nvCxnSpPr>
          <p:cNvPr id="10" name="dsl:col-divider"/>
          <p:cNvCxnSpPr/>
          <p:nvPr/>
        </p:nvCxnSpPr>
        <p:spPr>
          <a:xfrm>
            <a:off x="6191250" y="723900"/>
            <a:ext cx="0" cy="552450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sl:right-chart-label"/>
          <p:cNvSpPr txBox="1"/>
          <p:nvPr/>
        </p:nvSpPr>
        <p:spPr>
          <a:xfrm>
            <a:off x="6362700" y="819150"/>
            <a:ext cx="542925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975" noProof="1">
                <a:solidFill>
                  <a:srgbClr val="1A1A1A"/>
                </a:solidFill>
                <a:latin typeface="Arial"/>
                <a:ea typeface="Microsoft YaHei"/>
              </a:rPr>
              <a:t>进入成本指数对比（2020-2026E，以2020年=100为基准）</a:t>
            </a:r>
          </a:p>
        </p:txBody>
      </p:sp>
      <p:graphicFrame>
        <p:nvGraphicFramePr>
          <p:cNvPr id="12" name="dsl:right-chart"/>
          <p:cNvGraphicFramePr>
            <a:graphicFrameLocks noGrp="1"/>
          </p:cNvGraphicFramePr>
          <p:nvPr/>
        </p:nvGraphicFramePr>
        <p:xfrm>
          <a:off x="6362700" y="1066800"/>
          <a:ext cx="5372100" cy="2667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dsl:right-key-insight"/>
          <p:cNvSpPr/>
          <p:nvPr/>
        </p:nvSpPr>
        <p:spPr>
          <a:xfrm>
            <a:off x="6362700" y="3829050"/>
            <a:ext cx="5372100" cy="28575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insight-box"/>
          <p:cNvSpPr/>
          <p:nvPr/>
        </p:nvSpPr>
        <p:spPr>
          <a:xfrm>
            <a:off x="6362700" y="3867150"/>
            <a:ext cx="5372100" cy="952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insight-label"/>
          <p:cNvSpPr txBox="1"/>
          <p:nvPr/>
        </p:nvSpPr>
        <p:spPr>
          <a:xfrm>
            <a:off x="6496050" y="3943350"/>
            <a:ext cx="5143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8C1515"/>
                </a:solidFill>
                <a:latin typeface="Arial"/>
                <a:ea typeface="Microsoft YaHei"/>
              </a:rPr>
              <a:t>BOTTOM LINE · 核心结论</a:t>
            </a:r>
          </a:p>
        </p:txBody>
      </p:sp>
      <p:sp>
        <p:nvSpPr>
          <p:cNvPr id="16" name="dsl:insight-text"/>
          <p:cNvSpPr txBox="1"/>
          <p:nvPr/>
        </p:nvSpPr>
        <p:spPr>
          <a:xfrm>
            <a:off x="6496050" y="4152900"/>
            <a:ext cx="51054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新进者进入成本已是市场领先者的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2.7倍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，且差距以年均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18%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的速度扩大。对于尚在观望的潜在进入者而言，战略窗口正在以前所未有的速度关闭。</a:t>
            </a:r>
          </a:p>
        </p:txBody>
      </p:sp>
      <p:cxnSp>
        <p:nvCxnSpPr>
          <p:cNvPr id="17" name="dsl:impl-divider"/>
          <p:cNvCxnSpPr/>
          <p:nvPr/>
        </p:nvCxnSpPr>
        <p:spPr>
          <a:xfrm>
            <a:off x="6362700" y="4914900"/>
            <a:ext cx="53721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impl-title"/>
          <p:cNvSpPr txBox="1"/>
          <p:nvPr/>
        </p:nvSpPr>
        <p:spPr>
          <a:xfrm>
            <a:off x="6362700" y="4991100"/>
            <a:ext cx="53721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8C1515"/>
                </a:solidFill>
                <a:latin typeface="Arial"/>
                <a:ea typeface="Microsoft YaHei"/>
              </a:rPr>
              <a:t>STRATEGIC IMPLICATIONS · 战略启示</a:t>
            </a:r>
          </a:p>
        </p:txBody>
      </p:sp>
      <p:sp>
        <p:nvSpPr>
          <p:cNvPr id="19" name="dsl:impl-text"/>
          <p:cNvSpPr txBox="1"/>
          <p:nvPr/>
        </p:nvSpPr>
        <p:spPr>
          <a:xfrm>
            <a:off x="6362700" y="5200650"/>
            <a:ext cx="5372100" cy="10287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对于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现有玩家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：加速巩固护城河，重点投入数据飞轮和生态建设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对于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潜在进入者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：寻找细分赛道的差异化切入点，避免正面竞争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对于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投资人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：优先支持已建立领先优势的头部标的，谨慎对待追赶型投资</a:t>
            </a:r>
          </a:p>
        </p:txBody>
      </p:sp>
      <p:cxnSp>
        <p:nvCxnSpPr>
          <p:cNvPr id="20" name="dsl:footer-line"/>
          <p:cNvCxnSpPr/>
          <p:nvPr/>
        </p:nvCxnSpPr>
        <p:spPr>
          <a:xfrm>
            <a:off x="571500" y="6267450"/>
            <a:ext cx="11049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source-text|s=$caption"/>
          <p:cNvSpPr txBox="1"/>
          <p:nvPr/>
        </p:nvSpPr>
        <p:spPr>
          <a:xfrm>
            <a:off x="571500" y="6305550"/>
            <a:ext cx="9144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25" noProof="1">
                <a:solidFill>
                  <a:srgbClr val="8A8A8A"/>
                </a:solidFill>
                <a:latin typeface="Arial"/>
                <a:ea typeface="Microsoft YaHei"/>
              </a:rPr>
              <a:t>数据来源：</a:t>
            </a:r>
            <a:r>
              <a:rPr sz="825" noProof="1">
                <a:solidFill>
                  <a:srgbClr val="8A8A8A"/>
                </a:solidFill>
                <a:latin typeface="Arial"/>
                <a:ea typeface="Microsoft YaHei"/>
                <a:hlinkClick r:id="rId3"/>
              </a:rPr>
              <a:t>McKinsey Global Institute, 2025</a:t>
            </a:r>
            <a:r>
              <a:rPr sz="825" noProof="1">
                <a:solidFill>
                  <a:srgbClr val="8A8A8A"/>
                </a:solidFill>
                <a:latin typeface="Arial"/>
                <a:ea typeface="Microsoft YaHei"/>
              </a:rPr>
              <a:t>；Bain Market Entry Index 2025；公司年报及自有研究模型</a:t>
            </a:r>
          </a:p>
        </p:txBody>
      </p:sp>
      <p:sp>
        <p:nvSpPr>
          <p:cNvPr id="22" name="dsl:page-num"/>
          <p:cNvSpPr txBox="1"/>
          <p:nvPr/>
        </p:nvSpPr>
        <p:spPr>
          <a:xfrm>
            <a:off x="11239500" y="6343650"/>
            <a:ext cx="571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8A8A8A"/>
                </a:solidFill>
                <a:latin typeface="MiSans"/>
                <a:ea typeface="Mi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"/>
          <p:cNvSpPr txBox="1"/>
          <p:nvPr/>
        </p:nvSpPr>
        <p:spPr>
          <a:xfrm>
            <a:off x="571500" y="114300"/>
            <a:ext cx="10477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650" noProof="1">
                <a:solidFill>
                  <a:srgbClr val="1A1A1A"/>
                </a:solidFill>
                <a:latin typeface="Georgia"/>
                <a:ea typeface="宋体"/>
              </a:rPr>
              <a:t>高端市场出现结构性分化——超奢侈品类逆势增长18%，中高端传统品牌承压跌幅达12%</a:t>
            </a:r>
          </a:p>
        </p:txBody>
      </p:sp>
      <p:cxnSp>
        <p:nvCxnSpPr>
          <p:cNvPr id="4" name="dsl:title-underline"/>
          <p:cNvCxnSpPr/>
          <p:nvPr/>
        </p:nvCxnSpPr>
        <p:spPr>
          <a:xfrm>
            <a:off x="571500" y="742950"/>
            <a:ext cx="11049000" cy="0"/>
          </a:xfrm>
          <a:prstGeom prst="straightConnector1">
            <a:avLst/>
          </a:prstGeom>
          <a:ln w="25400">
            <a:solidFill>
              <a:srgbClr val="8C151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sl:left-label"/>
          <p:cNvSpPr txBox="1"/>
          <p:nvPr/>
        </p:nvSpPr>
        <p:spPr>
          <a:xfrm>
            <a:off x="571500" y="838200"/>
            <a:ext cx="56197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975" noProof="1">
                <a:solidFill>
                  <a:srgbClr val="1A1A1A"/>
                </a:solidFill>
                <a:latin typeface="Arial"/>
                <a:ea typeface="Microsoft YaHei"/>
              </a:rPr>
              <a:t>市场定位图谱：价格带 × 增速 × 市场规模（气泡大小=市场规模）</a:t>
            </a:r>
          </a:p>
        </p:txBody>
      </p:sp>
      <p:graphicFrame>
        <p:nvGraphicFramePr>
          <p:cNvPr id="6" name="dsl:left-chart"/>
          <p:cNvGraphicFramePr>
            <a:graphicFrameLocks noGrp="1"/>
          </p:cNvGraphicFramePr>
          <p:nvPr/>
        </p:nvGraphicFramePr>
        <p:xfrm>
          <a:off x="571500" y="1066800"/>
          <a:ext cx="5619750" cy="3009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dsl:chart-note"/>
          <p:cNvSpPr txBox="1"/>
          <p:nvPr/>
        </p:nvSpPr>
        <p:spPr>
          <a:xfrm>
            <a:off x="571500" y="4114800"/>
            <a:ext cx="56197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8A8A8A"/>
                </a:solidFill>
                <a:latin typeface="MiSans"/>
                <a:ea typeface="MiSans"/>
              </a:rPr>
              <a:t>注：气泡大小代表市场规模；数据为2024年全年；平价替代口径含白牌及代工品牌</a:t>
            </a:r>
          </a:p>
        </p:txBody>
      </p:sp>
      <p:cxnSp>
        <p:nvCxnSpPr>
          <p:cNvPr id="8" name="dsl:col-divider"/>
          <p:cNvCxnSpPr/>
          <p:nvPr/>
        </p:nvCxnSpPr>
        <p:spPr>
          <a:xfrm>
            <a:off x="6400800" y="742950"/>
            <a:ext cx="0" cy="546735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right-label"/>
          <p:cNvSpPr txBox="1"/>
          <p:nvPr/>
        </p:nvSpPr>
        <p:spPr>
          <a:xfrm>
            <a:off x="6591300" y="838200"/>
            <a:ext cx="52197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975" noProof="1">
                <a:solidFill>
                  <a:srgbClr val="8C1515"/>
                </a:solidFill>
                <a:latin typeface="Arial"/>
                <a:ea typeface="Microsoft YaHei"/>
              </a:rPr>
              <a:t>ANALYSIS · 深度分析</a:t>
            </a:r>
          </a:p>
        </p:txBody>
      </p:sp>
      <p:sp>
        <p:nvSpPr>
          <p:cNvPr id="10" name="dsl:right-section1"/>
          <p:cNvSpPr txBox="1"/>
          <p:nvPr/>
        </p:nvSpPr>
        <p:spPr>
          <a:xfrm>
            <a:off x="6591300" y="1085850"/>
            <a:ext cx="5219700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125" noProof="1">
                <a:solidFill>
                  <a:srgbClr val="1A1A1A"/>
                </a:solidFill>
                <a:latin typeface="Georgia"/>
                <a:ea typeface="宋体"/>
              </a:rPr>
              <a:t>超奢侈品：稀缺性溢价逻辑重估</a:t>
            </a:r>
          </a:p>
          <a:p>
            <a:pPr algn="l">
              <a:lnSpc>
                <a:spcPct val="165000"/>
              </a:lnSpc>
              <a:spcBef>
                <a:spcPts val="300"/>
              </a:spcBef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爱马仕、劳力士等品类同比增速达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18-25%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，核心驱动来自供给侧的刻意稀缺策略与需求端的资产化趋势。富裕阶层将奢侈品视为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抗通胀资产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，购买逻辑已由消费转向投资。</a:t>
            </a:r>
          </a:p>
        </p:txBody>
      </p:sp>
      <p:cxnSp>
        <p:nvCxnSpPr>
          <p:cNvPr id="11" name="dsl:right-sep1"/>
          <p:cNvCxnSpPr/>
          <p:nvPr/>
        </p:nvCxnSpPr>
        <p:spPr>
          <a:xfrm>
            <a:off x="6591300" y="2438400"/>
            <a:ext cx="52197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right-section2"/>
          <p:cNvSpPr txBox="1"/>
          <p:nvPr/>
        </p:nvSpPr>
        <p:spPr>
          <a:xfrm>
            <a:off x="6591300" y="2533650"/>
            <a:ext cx="5219700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125" noProof="1">
                <a:solidFill>
                  <a:srgbClr val="1A1A1A"/>
                </a:solidFill>
                <a:latin typeface="Georgia"/>
                <a:ea typeface="宋体"/>
              </a:rPr>
              <a:t>中高端传统品牌：夹层危机加剧</a:t>
            </a:r>
          </a:p>
          <a:p>
            <a:pPr algn="l">
              <a:lnSpc>
                <a:spcPct val="165000"/>
              </a:lnSpc>
              <a:spcBef>
                <a:spcPts val="300"/>
              </a:spcBef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以轻奢品牌为代表的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中间价格带承压最大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，面临双向挤压：上方超奢逻辑无法复制，下方性价比竞争激烈。2024年该价格带SKU存货周转天数上升至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128天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（同比+32天）。</a:t>
            </a:r>
          </a:p>
        </p:txBody>
      </p:sp>
      <p:cxnSp>
        <p:nvCxnSpPr>
          <p:cNvPr id="13" name="dsl:right-sep2"/>
          <p:cNvCxnSpPr/>
          <p:nvPr/>
        </p:nvCxnSpPr>
        <p:spPr>
          <a:xfrm>
            <a:off x="6591300" y="3886200"/>
            <a:ext cx="52197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sl:right-section3"/>
          <p:cNvSpPr txBox="1"/>
          <p:nvPr/>
        </p:nvSpPr>
        <p:spPr>
          <a:xfrm>
            <a:off x="6591300" y="3981450"/>
            <a:ext cx="52197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125" noProof="1">
                <a:solidFill>
                  <a:srgbClr val="1A1A1A"/>
                </a:solidFill>
                <a:latin typeface="Georgia"/>
                <a:ea typeface="宋体"/>
              </a:rPr>
              <a:t>平价替代：结构性机会窗口</a:t>
            </a:r>
          </a:p>
          <a:p>
            <a:pPr algn="l">
              <a:lnSpc>
                <a:spcPct val="165000"/>
              </a:lnSpc>
              <a:spcBef>
                <a:spcPts val="300"/>
              </a:spcBef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极致平替赛道增速高达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30%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，以"同等品质、六折价格"为核心卖点，已逐步突破价格歧视边界，渗透至一二线城市中产消费者。</a:t>
            </a:r>
          </a:p>
        </p:txBody>
      </p:sp>
      <p:cxnSp>
        <p:nvCxnSpPr>
          <p:cNvPr id="15" name="dsl:right-sep3"/>
          <p:cNvCxnSpPr/>
          <p:nvPr/>
        </p:nvCxnSpPr>
        <p:spPr>
          <a:xfrm>
            <a:off x="6591300" y="5029200"/>
            <a:ext cx="52197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sl:conclusion-label"/>
          <p:cNvSpPr txBox="1"/>
          <p:nvPr/>
        </p:nvSpPr>
        <p:spPr>
          <a:xfrm>
            <a:off x="6591300" y="5124450"/>
            <a:ext cx="19050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8C1515"/>
                </a:solidFill>
                <a:latin typeface="Arial"/>
                <a:ea typeface="Microsoft YaHei"/>
              </a:rPr>
              <a:t>IMPLICATION · 启示</a:t>
            </a:r>
          </a:p>
        </p:txBody>
      </p:sp>
      <p:sp>
        <p:nvSpPr>
          <p:cNvPr id="17" name="dsl:conclusion-text"/>
          <p:cNvSpPr txBox="1"/>
          <p:nvPr/>
        </p:nvSpPr>
        <p:spPr>
          <a:xfrm>
            <a:off x="6591300" y="5314950"/>
            <a:ext cx="52197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消费市场正式进入"哑铃化"结构，两端增长，中间收缩。配置策略应遵循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"两端超配、中间低配"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原则，重点布局稀缺性资产属性品牌及极致性价比赛道龙头。</a:t>
            </a:r>
          </a:p>
        </p:txBody>
      </p:sp>
      <p:cxnSp>
        <p:nvCxnSpPr>
          <p:cNvPr id="18" name="dsl:footer-line"/>
          <p:cNvCxnSpPr/>
          <p:nvPr/>
        </p:nvCxnSpPr>
        <p:spPr>
          <a:xfrm>
            <a:off x="571500" y="6267450"/>
            <a:ext cx="11049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source-text|s=$caption"/>
          <p:cNvSpPr txBox="1"/>
          <p:nvPr/>
        </p:nvSpPr>
        <p:spPr>
          <a:xfrm>
            <a:off x="571500" y="6305550"/>
            <a:ext cx="9144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25" noProof="1">
                <a:solidFill>
                  <a:srgbClr val="8A8A8A"/>
                </a:solidFill>
                <a:latin typeface="Arial"/>
                <a:ea typeface="Microsoft YaHei"/>
              </a:rPr>
              <a:t>数据来源：</a:t>
            </a:r>
            <a:r>
              <a:rPr sz="825" noProof="1">
                <a:solidFill>
                  <a:srgbClr val="8A8A8A"/>
                </a:solidFill>
                <a:latin typeface="Arial"/>
                <a:ea typeface="Microsoft YaHei"/>
                <a:hlinkClick r:id="rId3"/>
              </a:rPr>
              <a:t>Bain Luxury Goods Market Study, 2025</a:t>
            </a:r>
            <a:r>
              <a:rPr sz="825" noProof="1">
                <a:solidFill>
                  <a:srgbClr val="8A8A8A"/>
                </a:solidFill>
                <a:latin typeface="Arial"/>
                <a:ea typeface="Microsoft YaHei"/>
              </a:rPr>
              <a:t>；LVMH/Hermès年报；第三方渠道调研</a:t>
            </a:r>
          </a:p>
        </p:txBody>
      </p:sp>
      <p:sp>
        <p:nvSpPr>
          <p:cNvPr id="20" name="dsl:page-num"/>
          <p:cNvSpPr txBox="1"/>
          <p:nvPr/>
        </p:nvSpPr>
        <p:spPr>
          <a:xfrm>
            <a:off x="11239500" y="6343650"/>
            <a:ext cx="571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8A8A8A"/>
                </a:solidFill>
                <a:latin typeface="MiSans"/>
                <a:ea typeface="Mi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"/>
          <p:cNvSpPr txBox="1"/>
          <p:nvPr/>
        </p:nvSpPr>
        <p:spPr>
          <a:xfrm>
            <a:off x="571500" y="114300"/>
            <a:ext cx="10477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650" noProof="1">
                <a:solidFill>
                  <a:srgbClr val="1A1A1A"/>
                </a:solidFill>
                <a:latin typeface="Georgia"/>
                <a:ea typeface="宋体"/>
              </a:rPr>
              <a:t>行业整合加速已从结构趋势转为现实——前五大玩家市占率三年累计提升19pp，尾部出清周期正式开启</a:t>
            </a:r>
          </a:p>
        </p:txBody>
      </p:sp>
      <p:cxnSp>
        <p:nvCxnSpPr>
          <p:cNvPr id="4" name="dsl:title-underline"/>
          <p:cNvCxnSpPr/>
          <p:nvPr/>
        </p:nvCxnSpPr>
        <p:spPr>
          <a:xfrm>
            <a:off x="571500" y="742950"/>
            <a:ext cx="11049000" cy="0"/>
          </a:xfrm>
          <a:prstGeom prst="straightConnector1">
            <a:avLst/>
          </a:prstGeom>
          <a:ln w="25400">
            <a:solidFill>
              <a:srgbClr val="8C151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sl:chart-label"/>
          <p:cNvSpPr txBox="1"/>
          <p:nvPr/>
        </p:nvSpPr>
        <p:spPr>
          <a:xfrm>
            <a:off x="571500" y="838200"/>
            <a:ext cx="7620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975" noProof="1">
                <a:solidFill>
                  <a:srgbClr val="1A1A1A"/>
                </a:solidFill>
                <a:latin typeface="Arial"/>
                <a:ea typeface="Microsoft YaHei"/>
              </a:rPr>
              <a:t>行业集中度演变：CR5市占率（左轴，%）× 新增玩家数量（右轴，家）× 出清比率（折线，右轴）</a:t>
            </a:r>
          </a:p>
        </p:txBody>
      </p:sp>
      <p:graphicFrame>
        <p:nvGraphicFramePr>
          <p:cNvPr id="6" name="dsl:main-chart"/>
          <p:cNvGraphicFramePr>
            <a:graphicFrameLocks noGrp="1"/>
          </p:cNvGraphicFramePr>
          <p:nvPr/>
        </p:nvGraphicFramePr>
        <p:xfrm>
          <a:off x="571500" y="1066800"/>
          <a:ext cx="79057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dsl:analysis-panel-top"/>
          <p:cNvSpPr txBox="1"/>
          <p:nvPr/>
        </p:nvSpPr>
        <p:spPr>
          <a:xfrm>
            <a:off x="8705850" y="838200"/>
            <a:ext cx="31051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8C1515"/>
                </a:solidFill>
                <a:latin typeface="Arial"/>
                <a:ea typeface="Microsoft YaHei"/>
              </a:rPr>
              <a:t>KEY OBSERVATIONS</a:t>
            </a:r>
          </a:p>
        </p:txBody>
      </p:sp>
      <p:cxnSp>
        <p:nvCxnSpPr>
          <p:cNvPr id="8" name="dsl:obs-line"/>
          <p:cNvCxnSpPr/>
          <p:nvPr/>
        </p:nvCxnSpPr>
        <p:spPr>
          <a:xfrm>
            <a:off x="8705850" y="1066800"/>
            <a:ext cx="1714500" cy="0"/>
          </a:xfrm>
          <a:prstGeom prst="straightConnector1">
            <a:avLst/>
          </a:prstGeom>
          <a:ln w="25400">
            <a:solidFill>
              <a:srgbClr val="8C151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obs1"/>
          <p:cNvSpPr txBox="1"/>
          <p:nvPr/>
        </p:nvSpPr>
        <p:spPr>
          <a:xfrm>
            <a:off x="8705850" y="1143000"/>
            <a:ext cx="310515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050" noProof="1">
                <a:solidFill>
                  <a:srgbClr val="8C1515"/>
                </a:solidFill>
                <a:latin typeface="Georgia"/>
                <a:ea typeface="宋体"/>
              </a:rPr>
              <a:t>①  整合加速拐点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2022年是关键拐点年，新进入者骤降38%，出清比率首次突破15%阈值，行业从分散竞争进入集中整合阶段</a:t>
            </a:r>
          </a:p>
        </p:txBody>
      </p:sp>
      <p:cxnSp>
        <p:nvCxnSpPr>
          <p:cNvPr id="10" name="dsl:obs1-sep"/>
          <p:cNvCxnSpPr/>
          <p:nvPr/>
        </p:nvCxnSpPr>
        <p:spPr>
          <a:xfrm>
            <a:off x="8705850" y="2324100"/>
            <a:ext cx="310515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sl:obs2"/>
          <p:cNvSpPr txBox="1"/>
          <p:nvPr/>
        </p:nvSpPr>
        <p:spPr>
          <a:xfrm>
            <a:off x="8705850" y="2400300"/>
            <a:ext cx="310515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050" noProof="1">
                <a:solidFill>
                  <a:srgbClr val="8C1515"/>
                </a:solidFill>
                <a:latin typeface="Georgia"/>
                <a:ea typeface="宋体"/>
              </a:rPr>
              <a:t>②  资本效率分化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头部玩家单位资本产出（ROIC）达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22%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，尾部平均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4%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，差距是2020年的3倍，资本向头部集中趋势不可逆</a:t>
            </a:r>
          </a:p>
        </p:txBody>
      </p:sp>
      <p:cxnSp>
        <p:nvCxnSpPr>
          <p:cNvPr id="12" name="dsl:obs2-sep"/>
          <p:cNvCxnSpPr/>
          <p:nvPr/>
        </p:nvCxnSpPr>
        <p:spPr>
          <a:xfrm>
            <a:off x="8705850" y="3581400"/>
            <a:ext cx="310515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obs3"/>
          <p:cNvSpPr txBox="1"/>
          <p:nvPr/>
        </p:nvSpPr>
        <p:spPr>
          <a:xfrm>
            <a:off x="8705850" y="3657600"/>
            <a:ext cx="3105150" cy="8763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050" noProof="1">
                <a:solidFill>
                  <a:srgbClr val="8C1515"/>
                </a:solidFill>
                <a:latin typeface="Georgia"/>
                <a:ea typeface="宋体"/>
              </a:rPr>
              <a:t>③  并购窗口打开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估值洼地显现，优质资产折价率达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40-60%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，头部企业并购整合的性价比处于五年最高水位</a:t>
            </a:r>
          </a:p>
        </p:txBody>
      </p:sp>
      <p:sp>
        <p:nvSpPr>
          <p:cNvPr id="14" name="dsl:table-label"/>
          <p:cNvSpPr txBox="1"/>
          <p:nvPr/>
        </p:nvSpPr>
        <p:spPr>
          <a:xfrm>
            <a:off x="571500" y="441960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975" noProof="1">
                <a:solidFill>
                  <a:srgbClr val="1A1A1A"/>
                </a:solidFill>
                <a:latin typeface="Arial"/>
                <a:ea typeface="Microsoft YaHei"/>
              </a:rPr>
              <a:t>头部玩家核心指标对比（2024年）</a:t>
            </a:r>
          </a:p>
        </p:txBody>
      </p:sp>
      <p:graphicFrame>
        <p:nvGraphicFramePr>
          <p:cNvPr id="15" name="dsl:competitor-table"/>
          <p:cNvGraphicFramePr>
            <a:graphicFrameLocks noGrp="1"/>
          </p:cNvGraphicFramePr>
          <p:nvPr/>
        </p:nvGraphicFramePr>
        <p:xfrm>
          <a:off x="571500" y="4667250"/>
          <a:ext cx="11048999" cy="14478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988819"/>
                <a:gridCol w="1436370"/>
                <a:gridCol w="1436370"/>
                <a:gridCol w="1546860"/>
                <a:gridCol w="1546860"/>
                <a:gridCol w="1546860"/>
                <a:gridCol w="1546860"/>
              </a:tblGrid>
              <a:tr h="318516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公司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市占率（%）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收入增速（%）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EBITDA利润率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客户留存率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R&amp;D投入占比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战略评级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</a:tr>
              <a:tr h="3764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 b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领导者A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22.4%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+18%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28.3%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94%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12.1%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★★★★★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5F5"/>
                    </a:solidFill>
                  </a:tcPr>
                </a:tc>
              </a:tr>
              <a:tr h="3764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 b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挑战者B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15.8%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+11%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22.7%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89%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9.4%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★★★★☆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3764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 b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跟随者C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10.2%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+4%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16.8%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82%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6.2%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★★★☆☆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6" name="dsl:footer-line"/>
          <p:cNvCxnSpPr/>
          <p:nvPr/>
        </p:nvCxnSpPr>
        <p:spPr>
          <a:xfrm>
            <a:off x="571500" y="6229350"/>
            <a:ext cx="11049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source-text|s=$caption"/>
          <p:cNvSpPr txBox="1"/>
          <p:nvPr/>
        </p:nvSpPr>
        <p:spPr>
          <a:xfrm>
            <a:off x="571500" y="6286500"/>
            <a:ext cx="9144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25" noProof="1">
                <a:solidFill>
                  <a:srgbClr val="8A8A8A"/>
                </a:solidFill>
                <a:latin typeface="Arial"/>
                <a:ea typeface="Microsoft YaHei"/>
              </a:rPr>
              <a:t>数据来源：</a:t>
            </a:r>
            <a:r>
              <a:rPr sz="825" noProof="1">
                <a:solidFill>
                  <a:srgbClr val="8A8A8A"/>
                </a:solidFill>
                <a:latin typeface="Arial"/>
                <a:ea typeface="Microsoft YaHei"/>
                <a:hlinkClick r:id="rId3"/>
              </a:rPr>
              <a:t>Bain Industry Consolidation Monitor, 2025</a:t>
            </a:r>
            <a:r>
              <a:rPr sz="825" noProof="1">
                <a:solidFill>
                  <a:srgbClr val="8A8A8A"/>
                </a:solidFill>
                <a:latin typeface="Arial"/>
                <a:ea typeface="Microsoft YaHei"/>
              </a:rPr>
              <a:t>；Bloomberg行业数据；公司年报及贝恩自有测算模型</a:t>
            </a:r>
          </a:p>
        </p:txBody>
      </p:sp>
      <p:sp>
        <p:nvSpPr>
          <p:cNvPr id="18" name="dsl:page-num"/>
          <p:cNvSpPr txBox="1"/>
          <p:nvPr/>
        </p:nvSpPr>
        <p:spPr>
          <a:xfrm>
            <a:off x="11239500" y="6305550"/>
            <a:ext cx="571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8A8A8A"/>
                </a:solidFill>
                <a:latin typeface="MiSans"/>
                <a:ea typeface="Mi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"/>
          <p:cNvSpPr txBox="1"/>
          <p:nvPr/>
        </p:nvSpPr>
        <p:spPr>
          <a:xfrm>
            <a:off x="571500" y="114300"/>
            <a:ext cx="10477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650" noProof="1">
                <a:solidFill>
                  <a:srgbClr val="1A1A1A"/>
                </a:solidFill>
                <a:latin typeface="Georgia"/>
                <a:ea typeface="宋体"/>
              </a:rPr>
              <a:t>数据验证核心假设成立：三项关键指标同步印证消费结构转型进入不可逆阶段</a:t>
            </a:r>
          </a:p>
        </p:txBody>
      </p:sp>
      <p:cxnSp>
        <p:nvCxnSpPr>
          <p:cNvPr id="4" name="dsl:title-underline"/>
          <p:cNvCxnSpPr/>
          <p:nvPr/>
        </p:nvCxnSpPr>
        <p:spPr>
          <a:xfrm>
            <a:off x="571500" y="742950"/>
            <a:ext cx="11049000" cy="0"/>
          </a:xfrm>
          <a:prstGeom prst="straightConnector1">
            <a:avLst/>
          </a:prstGeom>
          <a:ln w="25400">
            <a:solidFill>
              <a:srgbClr val="8C151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sl:kpi1-top-border"/>
          <p:cNvSpPr/>
          <p:nvPr/>
        </p:nvSpPr>
        <p:spPr>
          <a:xfrm>
            <a:off x="571500" y="895350"/>
            <a:ext cx="3524250" cy="28575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kpi1-bg"/>
          <p:cNvSpPr/>
          <p:nvPr/>
        </p:nvSpPr>
        <p:spPr>
          <a:xfrm>
            <a:off x="571500" y="923925"/>
            <a:ext cx="3524250" cy="1524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kpi1-label"/>
          <p:cNvSpPr txBox="1"/>
          <p:nvPr/>
        </p:nvSpPr>
        <p:spPr>
          <a:xfrm>
            <a:off x="762000" y="1019175"/>
            <a:ext cx="314325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8C1515"/>
                </a:solidFill>
                <a:latin typeface="Arial"/>
                <a:ea typeface="Microsoft YaHei"/>
              </a:rPr>
              <a:t>MARKET SIZE · 市场规模</a:t>
            </a:r>
          </a:p>
        </p:txBody>
      </p:sp>
      <p:sp>
        <p:nvSpPr>
          <p:cNvPr id="8" name="dsl:kpi1-value"/>
          <p:cNvSpPr txBox="1"/>
          <p:nvPr/>
        </p:nvSpPr>
        <p:spPr>
          <a:xfrm>
            <a:off x="762000" y="1238250"/>
            <a:ext cx="3143250" cy="647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4350" noProof="1">
                <a:solidFill>
                  <a:srgbClr val="8C1515"/>
                </a:solidFill>
                <a:latin typeface="Georgia"/>
                <a:ea typeface="宋体"/>
              </a:rPr>
              <a:t>¥4.7万亿</a:t>
            </a:r>
          </a:p>
        </p:txBody>
      </p:sp>
      <p:sp>
        <p:nvSpPr>
          <p:cNvPr id="9" name="dsl:kpi1-desc"/>
          <p:cNvSpPr txBox="1"/>
          <p:nvPr/>
        </p:nvSpPr>
        <p:spPr>
          <a:xfrm>
            <a:off x="762000" y="1905000"/>
            <a:ext cx="314325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同比增长 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+22%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，较2022年翻倍，占据全球市场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38%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份额（2024年）</a:t>
            </a:r>
          </a:p>
        </p:txBody>
      </p:sp>
      <p:sp>
        <p:nvSpPr>
          <p:cNvPr id="10" name="dsl:kpi2-top-border"/>
          <p:cNvSpPr/>
          <p:nvPr/>
        </p:nvSpPr>
        <p:spPr>
          <a:xfrm>
            <a:off x="4333875" y="895350"/>
            <a:ext cx="3524250" cy="285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kpi2-bg"/>
          <p:cNvSpPr/>
          <p:nvPr/>
        </p:nvSpPr>
        <p:spPr>
          <a:xfrm>
            <a:off x="4333875" y="923925"/>
            <a:ext cx="3524250" cy="1524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kpi2-label"/>
          <p:cNvSpPr txBox="1"/>
          <p:nvPr/>
        </p:nvSpPr>
        <p:spPr>
          <a:xfrm>
            <a:off x="4524375" y="1019175"/>
            <a:ext cx="314325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1A1A1A"/>
                </a:solidFill>
                <a:latin typeface="Arial"/>
                <a:ea typeface="Microsoft YaHei"/>
              </a:rPr>
              <a:t>PENETRATION RATE · 渗透率</a:t>
            </a:r>
          </a:p>
        </p:txBody>
      </p:sp>
      <p:sp>
        <p:nvSpPr>
          <p:cNvPr id="13" name="dsl:kpi2-value"/>
          <p:cNvSpPr txBox="1"/>
          <p:nvPr/>
        </p:nvSpPr>
        <p:spPr>
          <a:xfrm>
            <a:off x="4524375" y="1238250"/>
            <a:ext cx="3143250" cy="647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4350" noProof="1">
                <a:solidFill>
                  <a:srgbClr val="1A1A1A"/>
                </a:solidFill>
                <a:latin typeface="Georgia"/>
                <a:ea typeface="宋体"/>
              </a:rPr>
              <a:t>67.3%</a:t>
            </a:r>
          </a:p>
        </p:txBody>
      </p:sp>
      <p:sp>
        <p:nvSpPr>
          <p:cNvPr id="14" name="dsl:kpi2-desc"/>
          <p:cNvSpPr txBox="1"/>
          <p:nvPr/>
        </p:nvSpPr>
        <p:spPr>
          <a:xfrm>
            <a:off x="4524375" y="1905000"/>
            <a:ext cx="314325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较上年提升 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+8.4pp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，三线以下城市渗透率增速领先一线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2.3倍</a:t>
            </a:r>
          </a:p>
        </p:txBody>
      </p:sp>
      <p:sp>
        <p:nvSpPr>
          <p:cNvPr id="15" name="dsl:kpi3-top-border"/>
          <p:cNvSpPr/>
          <p:nvPr/>
        </p:nvSpPr>
        <p:spPr>
          <a:xfrm>
            <a:off x="8096250" y="895350"/>
            <a:ext cx="3524250" cy="28575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kpi3-bg"/>
          <p:cNvSpPr/>
          <p:nvPr/>
        </p:nvSpPr>
        <p:spPr>
          <a:xfrm>
            <a:off x="8096250" y="923925"/>
            <a:ext cx="3524250" cy="1524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kpi3-label"/>
          <p:cNvSpPr txBox="1"/>
          <p:nvPr/>
        </p:nvSpPr>
        <p:spPr>
          <a:xfrm>
            <a:off x="8286750" y="1019175"/>
            <a:ext cx="314325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8C1515"/>
                </a:solidFill>
                <a:latin typeface="Arial"/>
                <a:ea typeface="Microsoft YaHei"/>
              </a:rPr>
              <a:t>GROWTH DELTA · 增长差距</a:t>
            </a:r>
          </a:p>
        </p:txBody>
      </p:sp>
      <p:sp>
        <p:nvSpPr>
          <p:cNvPr id="18" name="dsl:kpi3-value"/>
          <p:cNvSpPr txBox="1"/>
          <p:nvPr/>
        </p:nvSpPr>
        <p:spPr>
          <a:xfrm>
            <a:off x="8286750" y="1238250"/>
            <a:ext cx="3143250" cy="647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4350" noProof="1">
                <a:solidFill>
                  <a:srgbClr val="8C1515"/>
                </a:solidFill>
                <a:latin typeface="Georgia"/>
                <a:ea typeface="宋体"/>
              </a:rPr>
              <a:t>+23pp</a:t>
            </a:r>
          </a:p>
        </p:txBody>
      </p:sp>
      <p:sp>
        <p:nvSpPr>
          <p:cNvPr id="19" name="dsl:kpi3-desc"/>
          <p:cNvSpPr txBox="1"/>
          <p:nvPr/>
        </p:nvSpPr>
        <p:spPr>
          <a:xfrm>
            <a:off x="8286750" y="1905000"/>
            <a:ext cx="314325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头部vs尾部增速差距创近五年新高，行业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马太效应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持续强化</a:t>
            </a:r>
          </a:p>
        </p:txBody>
      </p:sp>
      <p:cxnSp>
        <p:nvCxnSpPr>
          <p:cNvPr id="20" name="dsl:mid-divider"/>
          <p:cNvCxnSpPr/>
          <p:nvPr/>
        </p:nvCxnSpPr>
        <p:spPr>
          <a:xfrm>
            <a:off x="571500" y="2590800"/>
            <a:ext cx="11049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trend-label"/>
          <p:cNvSpPr txBox="1"/>
          <p:nvPr/>
        </p:nvSpPr>
        <p:spPr>
          <a:xfrm>
            <a:off x="571500" y="2686050"/>
            <a:ext cx="5524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975" noProof="1">
                <a:solidFill>
                  <a:srgbClr val="1A1A1A"/>
                </a:solidFill>
                <a:latin typeface="Arial"/>
                <a:ea typeface="Microsoft YaHei"/>
              </a:rPr>
              <a:t>核心指标五年趋势：市场规模（万亿元）× 渗透率增速（ppts）</a:t>
            </a:r>
          </a:p>
        </p:txBody>
      </p:sp>
      <p:graphicFrame>
        <p:nvGraphicFramePr>
          <p:cNvPr id="22" name="dsl:trend-chart"/>
          <p:cNvGraphicFramePr>
            <a:graphicFrameLocks noGrp="1"/>
          </p:cNvGraphicFramePr>
          <p:nvPr/>
        </p:nvGraphicFramePr>
        <p:xfrm>
          <a:off x="571500" y="2914650"/>
          <a:ext cx="5715000" cy="304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dsl:table-label"/>
          <p:cNvSpPr txBox="1"/>
          <p:nvPr/>
        </p:nvSpPr>
        <p:spPr>
          <a:xfrm>
            <a:off x="6572250" y="2686050"/>
            <a:ext cx="52387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975" noProof="1">
                <a:solidFill>
                  <a:srgbClr val="1A1A1A"/>
                </a:solidFill>
                <a:latin typeface="Arial"/>
                <a:ea typeface="Microsoft YaHei"/>
              </a:rPr>
              <a:t>分细分赛道数据拆解（2024年，单位：亿元）</a:t>
            </a:r>
          </a:p>
        </p:txBody>
      </p:sp>
      <p:graphicFrame>
        <p:nvGraphicFramePr>
          <p:cNvPr id="24" name="dsl:segment-table"/>
          <p:cNvGraphicFramePr>
            <a:graphicFrameLocks noGrp="1"/>
          </p:cNvGraphicFramePr>
          <p:nvPr/>
        </p:nvGraphicFramePr>
        <p:xfrm>
          <a:off x="6572250" y="2914650"/>
          <a:ext cx="5238750" cy="22860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466850"/>
                <a:gridCol w="942975"/>
                <a:gridCol w="942975"/>
                <a:gridCol w="1047750"/>
                <a:gridCol w="838200"/>
              </a:tblGrid>
              <a:tr h="38862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细分赛道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规模（亿）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增速（%）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头部市占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评级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</a:tr>
              <a:tr h="3886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 b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超高端品类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8,420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+25%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CR5: 78%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超配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5F5"/>
                    </a:solidFill>
                  </a:tcPr>
                </a:tc>
              </a:tr>
              <a:tr h="3886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 b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高端成熟品类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12,600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+8%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CR5: 62%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标配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3886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 b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中高端传统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18,200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-4%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CR5: 41%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低配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5F5"/>
                    </a:solidFill>
                  </a:tcPr>
                </a:tc>
              </a:tr>
              <a:tr h="3657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 b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平价替代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6,800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+30%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CR5: 52%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超配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FF5F5"/>
                    </a:solidFill>
                  </a:tcPr>
                </a:tc>
              </a:tr>
              <a:tr h="3657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合计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46,020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+14%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2C2C2C"/>
                          </a:solidFill>
                          <a:latin typeface="Arial"/>
                          <a:ea typeface="Microsoft YaHei"/>
                        </a:rPr>
                        <a:t>CR5: 56%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2C2C2C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cxnSp>
        <p:nvCxnSpPr>
          <p:cNvPr id="25" name="dsl:footer-line"/>
          <p:cNvCxnSpPr/>
          <p:nvPr/>
        </p:nvCxnSpPr>
        <p:spPr>
          <a:xfrm>
            <a:off x="571500" y="6229350"/>
            <a:ext cx="11049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sl:source-text|s=$caption"/>
          <p:cNvSpPr txBox="1"/>
          <p:nvPr/>
        </p:nvSpPr>
        <p:spPr>
          <a:xfrm>
            <a:off x="571500" y="6286500"/>
            <a:ext cx="9144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25" noProof="1">
                <a:solidFill>
                  <a:srgbClr val="8A8A8A"/>
                </a:solidFill>
                <a:latin typeface="Arial"/>
                <a:ea typeface="Microsoft YaHei"/>
              </a:rPr>
              <a:t>数据来源：</a:t>
            </a:r>
            <a:r>
              <a:rPr sz="825" noProof="1">
                <a:solidFill>
                  <a:srgbClr val="8A8A8A"/>
                </a:solidFill>
                <a:latin typeface="Arial"/>
                <a:ea typeface="Microsoft YaHei"/>
                <a:hlinkClick r:id="rId3"/>
              </a:rPr>
              <a:t>Bain Market Monitor, Q4 2024</a:t>
            </a:r>
            <a:r>
              <a:rPr sz="825" noProof="1">
                <a:solidFill>
                  <a:srgbClr val="8A8A8A"/>
                </a:solidFill>
                <a:latin typeface="Arial"/>
                <a:ea typeface="Microsoft YaHei"/>
              </a:rPr>
              <a:t>；国家统计局；第三方调研机构Euromonitor；公司公告数据整合</a:t>
            </a:r>
          </a:p>
        </p:txBody>
      </p:sp>
      <p:sp>
        <p:nvSpPr>
          <p:cNvPr id="27" name="dsl:page-num"/>
          <p:cNvSpPr txBox="1"/>
          <p:nvPr/>
        </p:nvSpPr>
        <p:spPr>
          <a:xfrm>
            <a:off x="11239500" y="6305550"/>
            <a:ext cx="571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8A8A8A"/>
                </a:solidFill>
                <a:latin typeface="MiSans"/>
                <a:ea typeface="Mi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"/>
          <p:cNvSpPr txBox="1"/>
          <p:nvPr/>
        </p:nvSpPr>
        <p:spPr>
          <a:xfrm>
            <a:off x="571500" y="114300"/>
            <a:ext cx="10477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650" noProof="1">
                <a:solidFill>
                  <a:srgbClr val="1A1A1A"/>
                </a:solidFill>
                <a:latin typeface="Georgia"/>
                <a:ea typeface="宋体"/>
              </a:rPr>
              <a:t>战略布局建议：基于竞争优势评估与市场吸引力矩阵，差异化锁定三类核心投资机遇</a:t>
            </a:r>
          </a:p>
        </p:txBody>
      </p:sp>
      <p:cxnSp>
        <p:nvCxnSpPr>
          <p:cNvPr id="4" name="dsl:title-underline"/>
          <p:cNvCxnSpPr/>
          <p:nvPr/>
        </p:nvCxnSpPr>
        <p:spPr>
          <a:xfrm>
            <a:off x="571500" y="742950"/>
            <a:ext cx="11049000" cy="0"/>
          </a:xfrm>
          <a:prstGeom prst="straightConnector1">
            <a:avLst/>
          </a:prstGeom>
          <a:ln w="25400">
            <a:solidFill>
              <a:srgbClr val="8C151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sl:matrix-label"/>
          <p:cNvSpPr txBox="1"/>
          <p:nvPr/>
        </p:nvSpPr>
        <p:spPr>
          <a:xfrm>
            <a:off x="571500" y="838200"/>
            <a:ext cx="8572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975" noProof="1">
                <a:solidFill>
                  <a:srgbClr val="1A1A1A"/>
                </a:solidFill>
                <a:latin typeface="Arial"/>
                <a:ea typeface="Microsoft YaHei"/>
              </a:rPr>
              <a:t>战略布局矩阵：竞争优势 × 市场吸引力</a:t>
            </a:r>
            <a:r>
              <a:rPr sz="900" noProof="1">
                <a:solidFill>
                  <a:srgbClr val="8A8A8A"/>
                </a:solidFill>
                <a:latin typeface="Arial"/>
                <a:ea typeface="Microsoft YaHei"/>
              </a:rPr>
              <a:t>（气泡大小=建议配置权重）</a:t>
            </a:r>
          </a:p>
        </p:txBody>
      </p:sp>
      <p:sp>
        <p:nvSpPr>
          <p:cNvPr id="6" name="dsl:y-axis-label"/>
          <p:cNvSpPr txBox="1"/>
          <p:nvPr/>
        </p:nvSpPr>
        <p:spPr>
          <a:xfrm>
            <a:off x="571500" y="2667000"/>
            <a:ext cx="228600" cy="762000"/>
          </a:xfrm>
          <a:prstGeom prst="rect">
            <a:avLst/>
          </a:prstGeom>
          <a:noFill/>
        </p:spPr>
        <p:txBody>
          <a:bodyPr wrap="square" anchor="ctr" vert="eaVert">
            <a:noAutofit/>
          </a:bodyPr>
          <a:lstStyle/>
          <a:p>
            <a:pPr algn="ctr"/>
            <a:r>
              <a:rPr sz="900" noProof="1">
                <a:solidFill>
                  <a:srgbClr val="8A8A8A"/>
                </a:solidFill>
                <a:latin typeface="MiSans"/>
                <a:ea typeface="MiSans"/>
              </a:rPr>
              <a:t>市场吸引力</a:t>
            </a:r>
          </a:p>
        </p:txBody>
      </p:sp>
      <p:sp>
        <p:nvSpPr>
          <p:cNvPr id="7" name="dsl:q1-bg"/>
          <p:cNvSpPr/>
          <p:nvPr/>
        </p:nvSpPr>
        <p:spPr>
          <a:xfrm>
            <a:off x="838200" y="1085850"/>
            <a:ext cx="4572000" cy="2667000"/>
          </a:xfrm>
          <a:prstGeom prst="rect">
            <a:avLst/>
          </a:prstGeom>
          <a:solidFill>
            <a:srgbClr val="FF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q2-bg"/>
          <p:cNvSpPr/>
          <p:nvPr/>
        </p:nvSpPr>
        <p:spPr>
          <a:xfrm>
            <a:off x="5467350" y="1085850"/>
            <a:ext cx="4572000" cy="2667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q3-bg"/>
          <p:cNvSpPr/>
          <p:nvPr/>
        </p:nvSpPr>
        <p:spPr>
          <a:xfrm>
            <a:off x="838200" y="3810000"/>
            <a:ext cx="4572000" cy="21907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q4-bg"/>
          <p:cNvSpPr/>
          <p:nvPr/>
        </p:nvSpPr>
        <p:spPr>
          <a:xfrm>
            <a:off x="5467350" y="3810000"/>
            <a:ext cx="4572000" cy="219075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dsl:h-divider"/>
          <p:cNvCxnSpPr/>
          <p:nvPr/>
        </p:nvCxnSpPr>
        <p:spPr>
          <a:xfrm>
            <a:off x="838200" y="3752850"/>
            <a:ext cx="9201150" cy="0"/>
          </a:xfrm>
          <a:prstGeom prst="straightConnector1">
            <a:avLst/>
          </a:prstGeom>
          <a:ln w="254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v-divider"/>
          <p:cNvCxnSpPr/>
          <p:nvPr/>
        </p:nvCxnSpPr>
        <p:spPr>
          <a:xfrm>
            <a:off x="5410200" y="1085850"/>
            <a:ext cx="0" cy="4914900"/>
          </a:xfrm>
          <a:prstGeom prst="straightConnector1">
            <a:avLst/>
          </a:prstGeom>
          <a:ln w="254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q1-tag"/>
          <p:cNvSpPr/>
          <p:nvPr/>
        </p:nvSpPr>
        <p:spPr>
          <a:xfrm>
            <a:off x="838200" y="1085850"/>
            <a:ext cx="762000" cy="228600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q1-tag-text"/>
          <p:cNvSpPr txBox="1"/>
          <p:nvPr/>
        </p:nvSpPr>
        <p:spPr>
          <a:xfrm>
            <a:off x="838200" y="108585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825" noProof="1">
                <a:solidFill>
                  <a:srgbClr val="FFFFFF"/>
                </a:solidFill>
                <a:latin typeface="Arial"/>
                <a:ea typeface="MiSans"/>
              </a:rPr>
              <a:t>超 配</a:t>
            </a:r>
          </a:p>
        </p:txBody>
      </p:sp>
      <p:sp>
        <p:nvSpPr>
          <p:cNvPr id="15" name="dsl:q1-title"/>
          <p:cNvSpPr txBox="1"/>
          <p:nvPr/>
        </p:nvSpPr>
        <p:spPr>
          <a:xfrm>
            <a:off x="952500" y="1409700"/>
            <a:ext cx="42862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8C1515"/>
                </a:solidFill>
                <a:latin typeface="Georgia"/>
                <a:ea typeface="宋体"/>
              </a:rPr>
              <a:t>明星赛道：高吸引力 × 强竞争优势</a:t>
            </a:r>
          </a:p>
        </p:txBody>
      </p:sp>
      <p:sp>
        <p:nvSpPr>
          <p:cNvPr id="16" name="dsl:q1-content"/>
          <p:cNvSpPr txBox="1"/>
          <p:nvPr/>
        </p:nvSpPr>
        <p:spPr>
          <a:xfrm>
            <a:off x="952500" y="1714500"/>
            <a:ext cx="43434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超奢侈品类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（爱马仕、万亿表业等）：稀缺性护城河+资产化需求，超额收益可期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极致平替龙头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（拼多多生态/名创优品）：规模优势已形成，消费降级红利持续释放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建议配置权重：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40-50%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，持仓时间：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12-36个月</a:t>
            </a:r>
          </a:p>
        </p:txBody>
      </p:sp>
      <p:sp>
        <p:nvSpPr>
          <p:cNvPr id="17" name="dsl:q2-tag"/>
          <p:cNvSpPr/>
          <p:nvPr/>
        </p:nvSpPr>
        <p:spPr>
          <a:xfrm>
            <a:off x="5467350" y="1085850"/>
            <a:ext cx="762000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q2-tag-text"/>
          <p:cNvSpPr txBox="1"/>
          <p:nvPr/>
        </p:nvSpPr>
        <p:spPr>
          <a:xfrm>
            <a:off x="5467350" y="108585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825" noProof="1">
                <a:solidFill>
                  <a:srgbClr val="FFFFFF"/>
                </a:solidFill>
                <a:latin typeface="Arial"/>
                <a:ea typeface="MiSans"/>
              </a:rPr>
              <a:t>谨慎观察</a:t>
            </a:r>
          </a:p>
        </p:txBody>
      </p:sp>
      <p:sp>
        <p:nvSpPr>
          <p:cNvPr id="19" name="dsl:q2-title"/>
          <p:cNvSpPr txBox="1"/>
          <p:nvPr/>
        </p:nvSpPr>
        <p:spPr>
          <a:xfrm>
            <a:off x="5581650" y="1409700"/>
            <a:ext cx="42862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A1A1A"/>
                </a:solidFill>
                <a:latin typeface="Georgia"/>
                <a:ea typeface="宋体"/>
              </a:rPr>
              <a:t>潜力赛道：高吸引力 × 弱竞争优势</a:t>
            </a:r>
          </a:p>
        </p:txBody>
      </p:sp>
      <p:sp>
        <p:nvSpPr>
          <p:cNvPr id="20" name="dsl:q2-content"/>
          <p:cNvSpPr txBox="1"/>
          <p:nvPr/>
        </p:nvSpPr>
        <p:spPr>
          <a:xfrm>
            <a:off x="5581650" y="1714500"/>
            <a:ext cx="43434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赛道空间大但竞争格局未定，等待确定性信号后入场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新兴国货品牌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：品牌力尚未形成，需观察2-3个季度的复购率验证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建议配置权重：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15-20%</a:t>
            </a: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，持续跟踪，适时加仓</a:t>
            </a:r>
          </a:p>
        </p:txBody>
      </p:sp>
      <p:sp>
        <p:nvSpPr>
          <p:cNvPr id="21" name="dsl:q3-tag"/>
          <p:cNvSpPr/>
          <p:nvPr/>
        </p:nvSpPr>
        <p:spPr>
          <a:xfrm>
            <a:off x="838200" y="3810000"/>
            <a:ext cx="571500" cy="228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q3-tag-text"/>
          <p:cNvSpPr txBox="1"/>
          <p:nvPr/>
        </p:nvSpPr>
        <p:spPr>
          <a:xfrm>
            <a:off x="838200" y="3810000"/>
            <a:ext cx="571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825" noProof="1">
                <a:solidFill>
                  <a:srgbClr val="FFFFFF"/>
                </a:solidFill>
                <a:latin typeface="Arial"/>
                <a:ea typeface="MiSans"/>
              </a:rPr>
              <a:t>标配</a:t>
            </a:r>
          </a:p>
        </p:txBody>
      </p:sp>
      <p:sp>
        <p:nvSpPr>
          <p:cNvPr id="23" name="dsl:q3-title"/>
          <p:cNvSpPr txBox="1"/>
          <p:nvPr/>
        </p:nvSpPr>
        <p:spPr>
          <a:xfrm>
            <a:off x="952500" y="4133850"/>
            <a:ext cx="428625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125" noProof="1">
                <a:solidFill>
                  <a:srgbClr val="555555"/>
                </a:solidFill>
                <a:latin typeface="Georgia"/>
                <a:ea typeface="宋体"/>
              </a:rPr>
              <a:t>稳健标配：低吸引力 × 强竞争优势</a:t>
            </a:r>
          </a:p>
        </p:txBody>
      </p:sp>
      <p:sp>
        <p:nvSpPr>
          <p:cNvPr id="24" name="dsl:q3-content"/>
          <p:cNvSpPr txBox="1"/>
          <p:nvPr/>
        </p:nvSpPr>
        <p:spPr>
          <a:xfrm>
            <a:off x="952500" y="4419600"/>
            <a:ext cx="4343400" cy="1485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市场增速放缓但头部玩家具备稳定现金流，可作为底仓配置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建议标准配置，重点挑选股息率高且具备分红能力的标的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■ 建议配置权重：</a:t>
            </a:r>
            <a:r>
              <a:rPr b="1" sz="975" noProof="1">
                <a:solidFill>
                  <a:srgbClr val="2C2C2C"/>
                </a:solidFill>
                <a:latin typeface="Arial"/>
                <a:ea typeface="Microsoft YaHei"/>
              </a:rPr>
              <a:t>25-30%</a:t>
            </a:r>
          </a:p>
        </p:txBody>
      </p:sp>
      <p:sp>
        <p:nvSpPr>
          <p:cNvPr id="25" name="dsl:q4-tag"/>
          <p:cNvSpPr/>
          <p:nvPr/>
        </p:nvSpPr>
        <p:spPr>
          <a:xfrm>
            <a:off x="5467350" y="3810000"/>
            <a:ext cx="571500" cy="2286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q4-tag-text"/>
          <p:cNvSpPr txBox="1"/>
          <p:nvPr/>
        </p:nvSpPr>
        <p:spPr>
          <a:xfrm>
            <a:off x="5467350" y="3810000"/>
            <a:ext cx="571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825" noProof="1">
                <a:solidFill>
                  <a:srgbClr val="666666"/>
                </a:solidFill>
                <a:latin typeface="Arial"/>
                <a:ea typeface="MiSans"/>
              </a:rPr>
              <a:t>规避</a:t>
            </a:r>
          </a:p>
        </p:txBody>
      </p:sp>
      <p:sp>
        <p:nvSpPr>
          <p:cNvPr id="27" name="dsl:q4-title"/>
          <p:cNvSpPr txBox="1"/>
          <p:nvPr/>
        </p:nvSpPr>
        <p:spPr>
          <a:xfrm>
            <a:off x="5581650" y="4133850"/>
            <a:ext cx="428625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125" noProof="1">
                <a:solidFill>
                  <a:srgbClr val="888888"/>
                </a:solidFill>
                <a:latin typeface="Georgia"/>
                <a:ea typeface="宋体"/>
              </a:rPr>
              <a:t>出清赛道：低吸引力 × 弱竞争优势</a:t>
            </a:r>
          </a:p>
        </p:txBody>
      </p:sp>
      <p:sp>
        <p:nvSpPr>
          <p:cNvPr id="28" name="dsl:q4-content"/>
          <p:cNvSpPr txBox="1"/>
          <p:nvPr/>
        </p:nvSpPr>
        <p:spPr>
          <a:xfrm>
            <a:off x="5581650" y="4419600"/>
            <a:ext cx="4343400" cy="1485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8A8A8A"/>
                </a:solidFill>
                <a:latin typeface="Arial"/>
                <a:ea typeface="Microsoft YaHei"/>
              </a:rPr>
              <a:t>■ 中高端传统品类尾部玩家，面临双重挤压，出清概率高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8A8A8A"/>
                </a:solidFill>
                <a:latin typeface="Arial"/>
                <a:ea typeface="Microsoft YaHei"/>
              </a:rPr>
              <a:t>■ 建议积极减仓或清仓，避免陷入价值陷阱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8A8A8A"/>
                </a:solidFill>
                <a:latin typeface="Arial"/>
                <a:ea typeface="Microsoft YaHei"/>
              </a:rPr>
              <a:t>■ 建议配置权重：</a:t>
            </a:r>
            <a:r>
              <a:rPr b="1" sz="975" noProof="1">
                <a:solidFill>
                  <a:srgbClr val="8A8A8A"/>
                </a:solidFill>
                <a:latin typeface="Arial"/>
                <a:ea typeface="Microsoft YaHei"/>
              </a:rPr>
              <a:t>0-5%</a:t>
            </a:r>
            <a:r>
              <a:rPr sz="975" noProof="1">
                <a:solidFill>
                  <a:srgbClr val="8A8A8A"/>
                </a:solidFill>
                <a:latin typeface="Arial"/>
                <a:ea typeface="Microsoft YaHei"/>
              </a:rPr>
              <a:t>（已持仓逐步退出）</a:t>
            </a:r>
          </a:p>
        </p:txBody>
      </p:sp>
      <p:sp>
        <p:nvSpPr>
          <p:cNvPr id="29" name="dsl:x-axis-label"/>
          <p:cNvSpPr txBox="1"/>
          <p:nvPr/>
        </p:nvSpPr>
        <p:spPr>
          <a:xfrm>
            <a:off x="838200" y="6057900"/>
            <a:ext cx="92011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8A8A8A"/>
                </a:solidFill>
                <a:latin typeface="MiSans"/>
                <a:ea typeface="MiSans"/>
              </a:rPr>
              <a:t>← 弱竞争优势                    竞争优势维度                    强竞争优势 →</a:t>
            </a:r>
          </a:p>
        </p:txBody>
      </p:sp>
      <p:cxnSp>
        <p:nvCxnSpPr>
          <p:cNvPr id="30" name="dsl:footer-line"/>
          <p:cNvCxnSpPr/>
          <p:nvPr/>
        </p:nvCxnSpPr>
        <p:spPr>
          <a:xfrm>
            <a:off x="571500" y="6267450"/>
            <a:ext cx="11049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sl:source-text|s=$caption"/>
          <p:cNvSpPr txBox="1"/>
          <p:nvPr/>
        </p:nvSpPr>
        <p:spPr>
          <a:xfrm>
            <a:off x="571500" y="6305550"/>
            <a:ext cx="9144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25" noProof="1">
                <a:solidFill>
                  <a:srgbClr val="8A8A8A"/>
                </a:solidFill>
                <a:latin typeface="Arial"/>
                <a:ea typeface="Microsoft YaHei"/>
              </a:rPr>
              <a:t>框架来源：</a:t>
            </a:r>
            <a:r>
              <a:rPr sz="825" noProof="1">
                <a:solidFill>
                  <a:srgbClr val="8A8A8A"/>
                </a:solidFill>
                <a:latin typeface="Arial"/>
                <a:ea typeface="Microsoft YaHei"/>
                <a:hlinkClick r:id="rId2"/>
              </a:rPr>
              <a:t>Bain Strategic Portfolio Analysis Framework</a:t>
            </a:r>
            <a:r>
              <a:rPr sz="825" noProof="1">
                <a:solidFill>
                  <a:srgbClr val="8A8A8A"/>
                </a:solidFill>
                <a:latin typeface="Arial"/>
                <a:ea typeface="Microsoft YaHei"/>
              </a:rPr>
              <a:t>；竞争优势评分基于市占率/ROIC/品牌溢价综合测算；市场吸引力基于增速/规模/集中度综合评估</a:t>
            </a:r>
          </a:p>
        </p:txBody>
      </p:sp>
      <p:sp>
        <p:nvSpPr>
          <p:cNvPr id="32" name="dsl:page-num"/>
          <p:cNvSpPr txBox="1"/>
          <p:nvPr/>
        </p:nvSpPr>
        <p:spPr>
          <a:xfrm>
            <a:off x="11239500" y="6343650"/>
            <a:ext cx="571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8A8A8A"/>
                </a:solidFill>
                <a:latin typeface="MiSans"/>
                <a:ea typeface="Mi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dsl:final-img" descr="https://images.unsplash.com/photo-1497366216548-37526070297c?w=800&amp;q=80"/>
          <p:cNvPicPr>
            <a:picLocks noChangeAspect="1"/>
          </p:cNvPicPr>
          <p:nvPr/>
        </p:nvPicPr>
        <p:blipFill>
          <a:blip r:embed="rId2"/>
          <a:srcRect l="23933" r="23933"/>
          <a:stretch>
            <a:fillRect/>
          </a:stretch>
        </p:blipFill>
        <p:spPr>
          <a:xfrm>
            <a:off x="0" y="28575"/>
            <a:ext cx="5334000" cy="68294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dsl:img-overlay"/>
          <p:cNvSpPr/>
          <p:nvPr/>
        </p:nvSpPr>
        <p:spPr>
          <a:xfrm>
            <a:off x="0" y="28575"/>
            <a:ext cx="5334000" cy="6829425"/>
          </a:xfrm>
          <a:prstGeom prst="rect">
            <a:avLst/>
          </a:prstGeom>
          <a:gradFill rotWithShape="1">
            <a:gsLst>
              <a:gs pos="0">
                <a:srgbClr val="8C1515">
                  <a:alpha val="80000"/>
                </a:srgbClr>
              </a:gs>
              <a:gs pos="50000">
                <a:srgbClr val="8C1515">
                  <a:alpha val="56470"/>
                </a:srgbClr>
              </a:gs>
              <a:gs pos="100000">
                <a:srgbClr val="1A0A0A">
                  <a:alpha val="50196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ut-accent"/>
          <p:cNvSpPr/>
          <p:nvPr/>
        </p:nvSpPr>
        <p:spPr>
          <a:xfrm>
            <a:off x="5305425" y="28575"/>
            <a:ext cx="38100" cy="6829425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final-tagline"/>
          <p:cNvSpPr txBox="1"/>
          <p:nvPr/>
        </p:nvSpPr>
        <p:spPr>
          <a:xfrm>
            <a:off x="476250" y="571500"/>
            <a:ext cx="438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825" noProof="1">
                <a:solidFill>
                  <a:srgbClr val="FFFFFF">
                    <a:alpha val="66666"/>
                  </a:srgbClr>
                </a:solidFill>
                <a:latin typeface="Arial"/>
                <a:ea typeface="Microsoft YaHei"/>
              </a:rPr>
              <a:t>BAIN &amp; COMPANY · CONFIDENTIAL</a:t>
            </a:r>
          </a:p>
        </p:txBody>
      </p:sp>
      <p:sp>
        <p:nvSpPr>
          <p:cNvPr id="7" name="dsl:final-title"/>
          <p:cNvSpPr txBox="1"/>
          <p:nvPr/>
        </p:nvSpPr>
        <p:spPr>
          <a:xfrm>
            <a:off x="476250" y="2095500"/>
            <a:ext cx="43815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3000" noProof="1">
                <a:solidFill>
                  <a:srgbClr val="FFFFFF"/>
                </a:solidFill>
                <a:latin typeface="Georgia"/>
                <a:ea typeface="宋体"/>
              </a:rPr>
              <a:t>感谢</a:t>
            </a:r>
          </a:p>
          <a:p>
            <a:pPr algn="l">
              <a:lnSpc>
                <a:spcPct val="120000"/>
              </a:lnSpc>
            </a:pPr>
            <a:r>
              <a:rPr b="1" sz="3000" noProof="1">
                <a:solidFill>
                  <a:srgbClr val="FFFFFF"/>
                </a:solidFill>
                <a:latin typeface="Georgia"/>
                <a:ea typeface="宋体"/>
              </a:rPr>
              <a:t>倾听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500" noProof="1">
                <a:solidFill>
                  <a:srgbClr val="FFB3B3"/>
                </a:solidFill>
                <a:latin typeface="Georgia"/>
                <a:ea typeface="宋体"/>
              </a:rPr>
              <a:t>Thank You</a:t>
            </a:r>
          </a:p>
        </p:txBody>
      </p:sp>
      <p:cxnSp>
        <p:nvCxnSpPr>
          <p:cNvPr id="8" name="dsl:final-divider"/>
          <p:cNvCxnSpPr/>
          <p:nvPr/>
        </p:nvCxnSpPr>
        <p:spPr>
          <a:xfrm>
            <a:off x="476250" y="4038600"/>
            <a:ext cx="1524000" cy="0"/>
          </a:xfrm>
          <a:prstGeom prst="straightConnector1">
            <a:avLst/>
          </a:prstGeom>
          <a:ln w="38100">
            <a:solidFill>
              <a:srgbClr val="FFFFFF">
                <a:alpha val="66666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final-subtitle"/>
          <p:cNvSpPr txBox="1"/>
          <p:nvPr/>
        </p:nvSpPr>
        <p:spPr>
          <a:xfrm>
            <a:off x="476250" y="4191000"/>
            <a:ext cx="438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>
                <a:solidFill>
                  <a:srgbClr val="FFFFFF">
                    <a:alpha val="80000"/>
                  </a:srgbClr>
                </a:solidFill>
                <a:latin typeface="Arial"/>
                <a:ea typeface="Microsoft YaHei"/>
              </a:rPr>
              <a:t>期待进一步深入交流</a:t>
            </a:r>
          </a:p>
        </p:txBody>
      </p:sp>
      <p:sp>
        <p:nvSpPr>
          <p:cNvPr id="10" name="dsl:final-contact-label"/>
          <p:cNvSpPr txBox="1"/>
          <p:nvPr/>
        </p:nvSpPr>
        <p:spPr>
          <a:xfrm>
            <a:off x="476250" y="4667250"/>
            <a:ext cx="4381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825" noProof="1">
                <a:solidFill>
                  <a:srgbClr val="FFFFFF">
                    <a:alpha val="66666"/>
                  </a:srgbClr>
                </a:solidFill>
                <a:latin typeface="Arial"/>
                <a:ea typeface="Microsoft YaHei"/>
              </a:rPr>
              <a:t>CONTACT · 联系方式</a:t>
            </a:r>
          </a:p>
        </p:txBody>
      </p:sp>
      <p:sp>
        <p:nvSpPr>
          <p:cNvPr id="11" name="dsl:final-contact"/>
          <p:cNvSpPr txBox="1"/>
          <p:nvPr/>
        </p:nvSpPr>
        <p:spPr>
          <a:xfrm>
            <a:off x="476250" y="4914900"/>
            <a:ext cx="4381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FFFFFF">
                    <a:alpha val="80000"/>
                  </a:srgbClr>
                </a:solidFill>
                <a:latin typeface="Arial"/>
                <a:ea typeface="Microsoft YaHei"/>
              </a:rPr>
              <a:t>姓名 / Name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FFFFFF">
                    <a:alpha val="66666"/>
                  </a:srgbClr>
                </a:solidFill>
                <a:latin typeface="Arial"/>
                <a:ea typeface="Microsoft YaHei"/>
              </a:rPr>
              <a:t>职位 / Title · 部门 / Department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FFFFFF">
                    <a:alpha val="66666"/>
                  </a:srgbClr>
                </a:solidFill>
                <a:latin typeface="Arial"/>
                <a:ea typeface="Microsoft YaHei"/>
              </a:rPr>
              <a:t>email@bain.com  ·  +86 XXX XXXX XXXX</a:t>
            </a:r>
          </a:p>
        </p:txBody>
      </p:sp>
      <p:sp>
        <p:nvSpPr>
          <p:cNvPr id="12" name="dsl:right-panel-bg"/>
          <p:cNvSpPr/>
          <p:nvPr/>
        </p:nvSpPr>
        <p:spPr>
          <a:xfrm>
            <a:off x="5343525" y="28575"/>
            <a:ext cx="6848475" cy="6829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takeaway-label"/>
          <p:cNvSpPr txBox="1"/>
          <p:nvPr/>
        </p:nvSpPr>
        <p:spPr>
          <a:xfrm>
            <a:off x="5715000" y="571500"/>
            <a:ext cx="6096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8C1515"/>
                </a:solidFill>
                <a:latin typeface="Arial"/>
                <a:ea typeface="Microsoft YaHei"/>
              </a:rPr>
              <a:t>KEY TAKEAWAYS · 核心结论摘要</a:t>
            </a:r>
          </a:p>
        </p:txBody>
      </p:sp>
      <p:cxnSp>
        <p:nvCxnSpPr>
          <p:cNvPr id="14" name="dsl:takeaway-line"/>
          <p:cNvCxnSpPr/>
          <p:nvPr/>
        </p:nvCxnSpPr>
        <p:spPr>
          <a:xfrm>
            <a:off x="5715000" y="819150"/>
            <a:ext cx="1905000" cy="0"/>
          </a:xfrm>
          <a:prstGeom prst="straightConnector1">
            <a:avLst/>
          </a:prstGeom>
          <a:ln w="25400">
            <a:solidFill>
              <a:srgbClr val="8C151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tk1-bar"/>
          <p:cNvSpPr/>
          <p:nvPr/>
        </p:nvSpPr>
        <p:spPr>
          <a:xfrm>
            <a:off x="5715000" y="990600"/>
            <a:ext cx="38100" cy="857250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tk1-text"/>
          <p:cNvSpPr txBox="1"/>
          <p:nvPr/>
        </p:nvSpPr>
        <p:spPr>
          <a:xfrm>
            <a:off x="5886450" y="990600"/>
            <a:ext cx="60960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125" noProof="1">
                <a:solidFill>
                  <a:srgbClr val="1A1A1A"/>
                </a:solidFill>
                <a:latin typeface="Georgia"/>
                <a:ea typeface="宋体"/>
              </a:rPr>
              <a:t>结论一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此处填写第一条核心结论，应为完整的观点句，包含关键数据支撑</a:t>
            </a:r>
          </a:p>
        </p:txBody>
      </p:sp>
      <p:cxnSp>
        <p:nvCxnSpPr>
          <p:cNvPr id="17" name="dsl:tk1-sep"/>
          <p:cNvCxnSpPr/>
          <p:nvPr/>
        </p:nvCxnSpPr>
        <p:spPr>
          <a:xfrm>
            <a:off x="5715000" y="1943100"/>
            <a:ext cx="6096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tk2-bar"/>
          <p:cNvSpPr/>
          <p:nvPr/>
        </p:nvSpPr>
        <p:spPr>
          <a:xfrm>
            <a:off x="5715000" y="2076450"/>
            <a:ext cx="38100" cy="8572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tk2-text"/>
          <p:cNvSpPr txBox="1"/>
          <p:nvPr/>
        </p:nvSpPr>
        <p:spPr>
          <a:xfrm>
            <a:off x="5886450" y="2076450"/>
            <a:ext cx="60960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125" noProof="1">
                <a:solidFill>
                  <a:srgbClr val="1A1A1A"/>
                </a:solidFill>
                <a:latin typeface="Georgia"/>
                <a:ea typeface="宋体"/>
              </a:rPr>
              <a:t>结论二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此处填写第二条核心结论，体现结构性变化与市场机遇</a:t>
            </a:r>
          </a:p>
        </p:txBody>
      </p:sp>
      <p:cxnSp>
        <p:nvCxnSpPr>
          <p:cNvPr id="20" name="dsl:tk2-sep"/>
          <p:cNvCxnSpPr/>
          <p:nvPr/>
        </p:nvCxnSpPr>
        <p:spPr>
          <a:xfrm>
            <a:off x="5715000" y="3028950"/>
            <a:ext cx="6096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tk3-bar"/>
          <p:cNvSpPr/>
          <p:nvPr/>
        </p:nvSpPr>
        <p:spPr>
          <a:xfrm>
            <a:off x="5715000" y="3162300"/>
            <a:ext cx="38100" cy="857250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k3-text"/>
          <p:cNvSpPr txBox="1"/>
          <p:nvPr/>
        </p:nvSpPr>
        <p:spPr>
          <a:xfrm>
            <a:off x="5886450" y="3162300"/>
            <a:ext cx="60960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125" noProof="1">
                <a:solidFill>
                  <a:srgbClr val="1A1A1A"/>
                </a:solidFill>
                <a:latin typeface="Georgia"/>
                <a:ea typeface="宋体"/>
              </a:rPr>
              <a:t>结论三</a:t>
            </a:r>
          </a:p>
          <a:p>
            <a:pPr algn="l">
              <a:lnSpc>
                <a:spcPct val="165000"/>
              </a:lnSpc>
            </a:pPr>
            <a:r>
              <a:rPr sz="975" noProof="1">
                <a:solidFill>
                  <a:srgbClr val="2C2C2C"/>
                </a:solidFill>
                <a:latin typeface="Arial"/>
                <a:ea typeface="Microsoft YaHei"/>
              </a:rPr>
              <a:t>此处填写第三条核心结论，聚焦战略行动建议与优先级</a:t>
            </a:r>
          </a:p>
        </p:txBody>
      </p:sp>
      <p:cxnSp>
        <p:nvCxnSpPr>
          <p:cNvPr id="23" name="dsl:tk3-sep"/>
          <p:cNvCxnSpPr/>
          <p:nvPr/>
        </p:nvCxnSpPr>
        <p:spPr>
          <a:xfrm>
            <a:off x="5715000" y="4114800"/>
            <a:ext cx="6096000" cy="0"/>
          </a:xfrm>
          <a:prstGeom prst="straightConnector1">
            <a:avLst/>
          </a:prstGeom>
          <a:ln w="12700">
            <a:solidFill>
              <a:srgbClr val="DEDED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nextstep-label"/>
          <p:cNvSpPr txBox="1"/>
          <p:nvPr/>
        </p:nvSpPr>
        <p:spPr>
          <a:xfrm>
            <a:off x="5715000" y="4248150"/>
            <a:ext cx="60960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825" noProof="1">
                <a:solidFill>
                  <a:srgbClr val="8C1515"/>
                </a:solidFill>
                <a:latin typeface="Arial"/>
                <a:ea typeface="Microsoft YaHei"/>
              </a:rPr>
              <a:t>NEXT STEPS · 后续行动</a:t>
            </a:r>
          </a:p>
        </p:txBody>
      </p:sp>
      <p:sp>
        <p:nvSpPr>
          <p:cNvPr id="25" name="dsl:nextstep-text"/>
          <p:cNvSpPr txBox="1"/>
          <p:nvPr/>
        </p:nvSpPr>
        <p:spPr>
          <a:xfrm>
            <a:off x="5715000" y="4495800"/>
            <a:ext cx="6096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近期（1-4周）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：完成重点标的尽调，建立初始仓位</a:t>
            </a:r>
          </a:p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中期（1-3个月）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：持续跟踪核心指标，阶段性调仓</a:t>
            </a:r>
          </a:p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■ </a:t>
            </a:r>
            <a:r>
              <a:rPr b="1" sz="1050" noProof="1">
                <a:solidFill>
                  <a:srgbClr val="2C2C2C"/>
                </a:solidFill>
                <a:latin typeface="Arial"/>
                <a:ea typeface="Microsoft YaHei"/>
              </a:rPr>
              <a:t>长期（6-12个月）</a:t>
            </a:r>
            <a:r>
              <a:rPr sz="1050" noProof="1">
                <a:solidFill>
                  <a:srgbClr val="2C2C2C"/>
                </a:solidFill>
                <a:latin typeface="Arial"/>
                <a:ea typeface="Microsoft YaHei"/>
              </a:rPr>
              <a:t>：复盘战略有效性，更新市场假设</a:t>
            </a:r>
          </a:p>
        </p:txBody>
      </p:sp>
      <p:sp>
        <p:nvSpPr>
          <p:cNvPr id="26" name="dsl:qr-placeholder"/>
          <p:cNvSpPr/>
          <p:nvPr/>
        </p:nvSpPr>
        <p:spPr>
          <a:xfrm>
            <a:off x="5715000" y="6096000"/>
            <a:ext cx="571500" cy="5715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qr-label"/>
          <p:cNvSpPr txBox="1"/>
          <p:nvPr/>
        </p:nvSpPr>
        <p:spPr>
          <a:xfrm>
            <a:off x="6381750" y="6134100"/>
            <a:ext cx="2667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8A8A8A"/>
                </a:solidFill>
                <a:latin typeface="Arial"/>
                <a:ea typeface="Microsoft YaHei"/>
              </a:rPr>
              <a:t>扫码获取完整报告 / Scan for Full Report</a:t>
            </a:r>
          </a:p>
        </p:txBody>
      </p:sp>
      <p:sp>
        <p:nvSpPr>
          <p:cNvPr id="28" name="dsl:disclaimer"/>
          <p:cNvSpPr txBox="1"/>
          <p:nvPr/>
        </p:nvSpPr>
        <p:spPr>
          <a:xfrm>
            <a:off x="6381750" y="6572250"/>
            <a:ext cx="5334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750" noProof="1">
                <a:solidFill>
                  <a:srgbClr val="BBBBBB"/>
                </a:solidFill>
                <a:latin typeface="Arial"/>
                <a:ea typeface="Microsoft YaHei"/>
              </a:rPr>
              <a:t>本报告仅供内部参考，数据截至2026年3月。未经书面授权，禁止对外传阅或引用。</a:t>
            </a:r>
          </a:p>
        </p:txBody>
      </p:sp>
      <p:sp>
        <p:nvSpPr>
          <p:cNvPr id="29" name="dsl:bottom-bar"/>
          <p:cNvSpPr/>
          <p:nvPr/>
        </p:nvSpPr>
        <p:spPr>
          <a:xfrm>
            <a:off x="5343525" y="6800850"/>
            <a:ext cx="6848475" cy="28575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8C1515"/>
    <Color name="secondary" value="#1A1A1A"/>
    <Color name="accent" value="#CC2222"/>
    <Color name="background" value="#FFFFFF"/>
    <Color name="text" value="#2C2C2C"/>
    <Color name="lightgray" value="#F5F5F5"/>
    <Color name="border" value="#DEDEDE"/>
    <Color name="medgray" value="#8A8A8A"/>
    <Color name="darkred" value="#6B0F0F"/>
  </Colors>
  <TextStyles>
    <TextStyle name="coverTitle" font_size="46.0" color="#FFFFFF" font_family="Georgia, 宋体, MiSans" line_height="1.2"/>
    <TextStyle name="chapterTitle" font_size="36.0" color="$secondary" font_family="Georgia, 宋体, MiSans" line_height="1.2"/>
    <TextStyle name="actionTitle" font_size="22.0" color="$secondary" font_family="Georgia, 宋体, MiSans" line_height="1.25"/>
    <TextStyle name="subtitle" font_size="14.0" color="$medgray" font_family="Arial, Microsoft YaHei, MiSans" line_height="1.4"/>
    <TextStyle name="body" font_size="14.0" color="$text" font_family="Arial, Microsoft YaHei, MiSans" line_height="1.6"/>
    <TextStyle name="caption" font_size="11.0" color="$medgray" font_family="Arial, Microsoft YaHei, MiSans" line_height="1.3"/>
    <TextStyle name="bignum" font_size="52.0" color="$primary" font_family="Georgia, 宋体, MiSans"/>
  </TextStyles>
  <TableStyles>
    <TableStyle name="default" fontSize="13.0" fontFamily="Arial, Microsoft YaHei, MiSans" headerFill="$secondary" headerColor="#FFFFFF" headerBold="true" bodyFill="#FFFFFF,$lightgray" bodyColor="$text" firstColumnBold="true">
      <Border style="solid" width="1.0" color="$border"/>
    </TableStyle>
  </TableStyles>
</DslMetadata>
</file>

<file path=customXml/itemProps1.xml><?xml version="1.0" encoding="utf-8"?>
<ns0:datastoreItem xmlns:ns0="http://schemas.openxmlformats.org/officeDocument/2006/customXml" ns0:itemID="{E82943FB-41B1-4869-AB91-DF4763FE36A9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